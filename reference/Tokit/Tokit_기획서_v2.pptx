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86" r:id="rId13"/>
    <p:sldId id="287" r:id="rId14"/>
    <p:sldId id="266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6" r:id="rId23"/>
    <p:sldId id="277" r:id="rId24"/>
    <p:sldId id="278" r:id="rId25"/>
    <p:sldId id="280" r:id="rId26"/>
    <p:sldId id="281" r:id="rId27"/>
    <p:sldId id="282" r:id="rId28"/>
    <p:sldId id="283" r:id="rId29"/>
    <p:sldId id="284" r:id="rId30"/>
    <p:sldId id="288" r:id="rId31"/>
    <p:sldId id="289" r:id="rId32"/>
    <p:sldId id="290" r:id="rId33"/>
    <p:sldId id="285" r:id="rId34"/>
  </p:sldIdLst>
  <p:sldSz cx="24384000" cy="13716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08" autoAdjust="0"/>
    <p:restoredTop sz="94626" autoAdjust="0"/>
  </p:normalViewPr>
  <p:slideViewPr>
    <p:cSldViewPr>
      <p:cViewPr varScale="1">
        <p:scale>
          <a:sx n="39" d="100"/>
          <a:sy n="39" d="100"/>
        </p:scale>
        <p:origin x="816" y="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1.png"/><Relationship Id="rId7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3.png"/><Relationship Id="rId7" Type="http://schemas.openxmlformats.org/officeDocument/2006/relationships/image" Target="../media/image2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39.png"/><Relationship Id="rId4" Type="http://schemas.openxmlformats.org/officeDocument/2006/relationships/image" Target="../media/image34.png"/><Relationship Id="rId9" Type="http://schemas.openxmlformats.org/officeDocument/2006/relationships/image" Target="../media/image3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47.png"/><Relationship Id="rId7" Type="http://schemas.openxmlformats.org/officeDocument/2006/relationships/image" Target="../media/image2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Relationship Id="rId9" Type="http://schemas.openxmlformats.org/officeDocument/2006/relationships/image" Target="../media/image5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2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3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2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2.png"/><Relationship Id="rId7" Type="http://schemas.openxmlformats.org/officeDocument/2006/relationships/image" Target="../media/image2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9" Type="http://schemas.openxmlformats.org/officeDocument/2006/relationships/image" Target="../media/image3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63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62.png"/><Relationship Id="rId4" Type="http://schemas.openxmlformats.org/officeDocument/2006/relationships/image" Target="../media/image6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5.png"/><Relationship Id="rId7" Type="http://schemas.openxmlformats.org/officeDocument/2006/relationships/image" Target="../media/image69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8.png"/><Relationship Id="rId5" Type="http://schemas.openxmlformats.org/officeDocument/2006/relationships/image" Target="../media/image67.png"/><Relationship Id="rId4" Type="http://schemas.openxmlformats.org/officeDocument/2006/relationships/image" Target="../media/image6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7" Type="http://schemas.openxmlformats.org/officeDocument/2006/relationships/image" Target="../media/image74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80.png"/><Relationship Id="rId7" Type="http://schemas.openxmlformats.org/officeDocument/2006/relationships/image" Target="../media/image2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3.png"/><Relationship Id="rId5" Type="http://schemas.openxmlformats.org/officeDocument/2006/relationships/image" Target="../media/image82.png"/><Relationship Id="rId4" Type="http://schemas.openxmlformats.org/officeDocument/2006/relationships/image" Target="../media/image81.png"/><Relationship Id="rId9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9.png"/><Relationship Id="rId5" Type="http://schemas.openxmlformats.org/officeDocument/2006/relationships/image" Target="../media/image23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png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3" Type="http://schemas.openxmlformats.org/officeDocument/2006/relationships/image" Target="../media/image88.png"/><Relationship Id="rId7" Type="http://schemas.openxmlformats.org/officeDocument/2006/relationships/image" Target="../media/image36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90.png"/><Relationship Id="rId4" Type="http://schemas.openxmlformats.org/officeDocument/2006/relationships/image" Target="../media/image89.png"/><Relationship Id="rId9" Type="http://schemas.openxmlformats.org/officeDocument/2006/relationships/image" Target="../media/image9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png"/><Relationship Id="rId3" Type="http://schemas.openxmlformats.org/officeDocument/2006/relationships/image" Target="../media/image93.png"/><Relationship Id="rId7" Type="http://schemas.openxmlformats.org/officeDocument/2006/relationships/image" Target="../media/image97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4.png"/><Relationship Id="rId9" Type="http://schemas.openxmlformats.org/officeDocument/2006/relationships/image" Target="../media/image99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38.png"/><Relationship Id="rId7" Type="http://schemas.openxmlformats.org/officeDocument/2006/relationships/image" Target="../media/image2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4.png"/><Relationship Id="rId7" Type="http://schemas.openxmlformats.org/officeDocument/2006/relationships/image" Target="../media/image107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94.png"/><Relationship Id="rId9" Type="http://schemas.openxmlformats.org/officeDocument/2006/relationships/image" Target="../media/image109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4.png"/><Relationship Id="rId7" Type="http://schemas.openxmlformats.org/officeDocument/2006/relationships/image" Target="../media/image107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94.png"/><Relationship Id="rId9" Type="http://schemas.openxmlformats.org/officeDocument/2006/relationships/image" Target="../media/image109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3" Type="http://schemas.openxmlformats.org/officeDocument/2006/relationships/image" Target="../media/image104.png"/><Relationship Id="rId7" Type="http://schemas.openxmlformats.org/officeDocument/2006/relationships/image" Target="../media/image107.png"/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6.png"/><Relationship Id="rId5" Type="http://schemas.openxmlformats.org/officeDocument/2006/relationships/image" Target="../media/image105.png"/><Relationship Id="rId4" Type="http://schemas.openxmlformats.org/officeDocument/2006/relationships/image" Target="../media/image94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38.png"/><Relationship Id="rId7" Type="http://schemas.openxmlformats.org/officeDocument/2006/relationships/image" Target="../media/image2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15824200" y="2806700"/>
            <a:ext cx="10083800" cy="81026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435100" y="6769100"/>
            <a:ext cx="14325600" cy="2184400"/>
          </a:xfrm>
          <a:prstGeom prst="rect">
            <a:avLst/>
          </a:prstGeom>
        </p:spPr>
        <p:txBody>
          <a:bodyPr lIns="0" tIns="0" rIns="0" bIns="155787" rtlCol="0" anchor="b"/>
          <a:lstStyle/>
          <a:p>
            <a:pPr lvl="0" algn="l">
              <a:lnSpc>
                <a:spcPct val="99600"/>
              </a:lnSpc>
            </a:pPr>
            <a:r>
              <a:rPr lang="en-US" sz="12266" b="0" i="0" u="none" strike="noStrike" spc="-2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Tokit</a:t>
            </a:r>
            <a:endParaRPr lang="en-US" sz="12266" b="0" i="0" u="none" strike="noStrike" spc="-200" dirty="0">
              <a:solidFill>
                <a:srgbClr val="FFFFFF"/>
              </a:solidFill>
              <a:latin typeface="Pretendard Black"/>
              <a:ea typeface="Pretendard Black"/>
              <a:cs typeface="Pretendard Black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435100" y="10039350"/>
            <a:ext cx="14909800" cy="869950"/>
          </a:xfrm>
          <a:prstGeom prst="rect">
            <a:avLst/>
          </a:prstGeom>
        </p:spPr>
        <p:txBody>
          <a:bodyPr lIns="0" tIns="45720" rIns="0" bIns="0" rtlCol="0" anchor="t"/>
          <a:lstStyle/>
          <a:p>
            <a:pPr lvl="0" algn="l">
              <a:lnSpc>
                <a:spcPct val="99600"/>
              </a:lnSpc>
            </a:pPr>
            <a:r>
              <a:rPr lang="en-US" altLang="ko-KR" sz="4800" b="1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3</a:t>
            </a:r>
            <a:r>
              <a:rPr lang="ko-KR" altLang="en-US" sz="4800" b="1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조 </a:t>
            </a:r>
            <a:r>
              <a:rPr lang="en-US" sz="4800" b="1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T1 (Token </a:t>
            </a:r>
            <a:r>
              <a:rPr lang="en-US" sz="4800" b="1" i="0" u="none" strike="noStrike" dirty="0" err="1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いちばん</a:t>
            </a:r>
            <a:r>
              <a:rPr lang="en-US" sz="4800" b="1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) </a:t>
            </a:r>
            <a:r>
              <a:rPr lang="en-US" sz="3600" b="0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| 2026.04.20~05.</a:t>
            </a:r>
            <a:r>
              <a:rPr lang="en-US" altLang="ko-KR" sz="3600" b="0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20</a:t>
            </a:r>
            <a:endParaRPr lang="en-US" sz="3600" b="0" i="0" u="none" strike="noStrike" dirty="0">
              <a:solidFill>
                <a:srgbClr val="FFFFFF"/>
              </a:solidFill>
              <a:latin typeface="Pretendard Light"/>
              <a:ea typeface="Pretendard Light"/>
              <a:cs typeface="Pretendard Light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16500" y="4114800"/>
            <a:ext cx="5486400" cy="54864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1100" y="1162050"/>
            <a:ext cx="6934200" cy="9779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7DF25AF-7094-ACA5-E97D-FD7A36965880}"/>
              </a:ext>
            </a:extLst>
          </p:cNvPr>
          <p:cNvSpPr txBox="1"/>
          <p:nvPr/>
        </p:nvSpPr>
        <p:spPr>
          <a:xfrm>
            <a:off x="1440016" y="8953500"/>
            <a:ext cx="1490488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99600"/>
              </a:lnSpc>
            </a:pPr>
            <a:r>
              <a:rPr lang="ko-KR" altLang="en-US" sz="4000" b="0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한국어 특화 프롬프트 엔지니어링 </a:t>
            </a:r>
            <a:r>
              <a:rPr lang="en-US" altLang="ko-KR" sz="4000" b="0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&amp;</a:t>
            </a:r>
            <a:r>
              <a:rPr lang="ko-KR" altLang="en-US" sz="4000" b="0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 입출력 토큰 최적화 시스템</a:t>
            </a:r>
            <a:endParaRPr lang="en-US" altLang="ko-KR" sz="4000" b="0" i="0" u="none" strike="noStrike" dirty="0">
              <a:solidFill>
                <a:srgbClr val="FFFFFF"/>
              </a:solidFill>
              <a:latin typeface="Pretendard Light"/>
              <a:ea typeface="Pretendard Light"/>
              <a:cs typeface="Pretendard Light"/>
            </a:endParaRPr>
          </a:p>
        </p:txBody>
      </p:sp>
      <p:sp>
        <p:nvSpPr>
          <p:cNvPr id="10" name="TextBox 6">
            <a:extLst>
              <a:ext uri="{FF2B5EF4-FFF2-40B4-BE49-F238E27FC236}">
                <a16:creationId xmlns:a16="http://schemas.microsoft.com/office/drawing/2014/main" id="{31A212C5-B6E5-CA8C-5DEE-258261649CC4}"/>
              </a:ext>
            </a:extLst>
          </p:cNvPr>
          <p:cNvSpPr txBox="1"/>
          <p:nvPr/>
        </p:nvSpPr>
        <p:spPr>
          <a:xfrm>
            <a:off x="1435100" y="11977944"/>
            <a:ext cx="14909800" cy="869950"/>
          </a:xfrm>
          <a:prstGeom prst="rect">
            <a:avLst/>
          </a:prstGeom>
        </p:spPr>
        <p:txBody>
          <a:bodyPr lIns="0" tIns="45720" rIns="0" bIns="0" rtlCol="0" anchor="t"/>
          <a:lstStyle/>
          <a:p>
            <a:pPr lvl="0">
              <a:lnSpc>
                <a:spcPct val="99600"/>
              </a:lnSpc>
            </a:pPr>
            <a:r>
              <a:rPr lang="ko-KR" altLang="en-US" sz="3200" b="0" i="0" u="none" strike="noStrike" dirty="0" err="1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최규철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(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팀장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)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&amp;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 윤지현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&amp;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 이지호 </a:t>
            </a:r>
            <a:r>
              <a:rPr lang="en-US" altLang="ko-KR" sz="3200" b="0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&amp;</a:t>
            </a:r>
            <a:r>
              <a:rPr lang="ko-KR" altLang="en-US" sz="3200" b="0" i="0" u="none" strike="noStrike" dirty="0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 </a:t>
            </a:r>
            <a:r>
              <a:rPr lang="ko-KR" altLang="en-US" sz="3200" b="0" i="0" u="none" strike="noStrike" dirty="0" err="1">
                <a:solidFill>
                  <a:srgbClr val="FFFFFF"/>
                </a:solidFill>
                <a:latin typeface="Pretendard Light"/>
                <a:ea typeface="Pretendard Light"/>
                <a:cs typeface="Pretendard Light"/>
              </a:rPr>
              <a:t>한시호</a:t>
            </a:r>
            <a:endParaRPr lang="en-US" sz="3200" b="0" i="0" u="none" strike="noStrike" dirty="0">
              <a:solidFill>
                <a:srgbClr val="FFFFFF"/>
              </a:solidFill>
              <a:latin typeface="Pretendard Light"/>
              <a:ea typeface="Pretendard Light"/>
              <a:cs typeface="Pretendard Ligh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409700" y="609600"/>
            <a:ext cx="218694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 algn="l">
              <a:lnSpc>
                <a:spcPct val="99600"/>
              </a:lnSpc>
            </a:pPr>
            <a:r>
              <a:rPr lang="en-US" sz="8000" b="0" i="0" u="none" strike="noStrike" spc="-1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목차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0800" y="2819400"/>
            <a:ext cx="10528300" cy="27686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00" y="2489200"/>
            <a:ext cx="635000" cy="6731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143000" y="2590800"/>
            <a:ext cx="368300" cy="469900"/>
          </a:xfrm>
          <a:prstGeom prst="rect">
            <a:avLst/>
          </a:prstGeom>
        </p:spPr>
        <p:txBody>
          <a:bodyPr lIns="0" tIns="47413" rIns="0" bIns="47413" rtlCol="0" anchor="ctr"/>
          <a:lstStyle/>
          <a:p>
            <a:pPr lvl="0" algn="ctr">
              <a:lnSpc>
                <a:spcPct val="92960"/>
              </a:lnSpc>
            </a:pPr>
            <a:r>
              <a:rPr lang="en-US" sz="2666" b="0" i="0" u="none" strike="noStrike" spc="-1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790700" y="3365500"/>
            <a:ext cx="97282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프로젝트 개요 및 문제 정의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90700" y="4203700"/>
            <a:ext cx="9690100" cy="4953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문서 정보, 문제 인식, 발생 원인, 해결 방향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2400" y="2819400"/>
            <a:ext cx="10528300" cy="27686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3322300" y="3365500"/>
            <a:ext cx="97282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프로젝트 목표 및 기대 효과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22300" y="4203700"/>
            <a:ext cx="9690100" cy="4953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정량적 목표, 사용자 관점, 기술·학습 관점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7600" y="2489200"/>
            <a:ext cx="635000" cy="6731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2674600" y="2590800"/>
            <a:ext cx="368300" cy="469900"/>
          </a:xfrm>
          <a:prstGeom prst="rect">
            <a:avLst/>
          </a:prstGeom>
        </p:spPr>
        <p:txBody>
          <a:bodyPr lIns="0" tIns="47413" rIns="0" bIns="47413" rtlCol="0" anchor="ctr"/>
          <a:lstStyle/>
          <a:p>
            <a:pPr lvl="0" algn="ctr">
              <a:lnSpc>
                <a:spcPct val="92960"/>
              </a:lnSpc>
            </a:pPr>
            <a:r>
              <a:rPr lang="en-US" sz="2666" b="0" i="0" u="none" strike="noStrike" spc="-1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4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6502400"/>
            <a:ext cx="10528300" cy="27686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6159500"/>
            <a:ext cx="635000" cy="67310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1155700" y="6261100"/>
            <a:ext cx="368300" cy="469900"/>
          </a:xfrm>
          <a:prstGeom prst="rect">
            <a:avLst/>
          </a:prstGeom>
        </p:spPr>
        <p:txBody>
          <a:bodyPr lIns="0" tIns="47413" rIns="0" bIns="47413" rtlCol="0" anchor="ctr"/>
          <a:lstStyle/>
          <a:p>
            <a:pPr lvl="0" algn="ctr">
              <a:lnSpc>
                <a:spcPct val="92960"/>
              </a:lnSpc>
            </a:pPr>
            <a:r>
              <a:rPr lang="en-US" sz="2666" b="0" i="0" u="none" strike="noStrike" spc="-1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03400" y="7035800"/>
            <a:ext cx="97282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사용자 페르소나 및 유저맵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803400" y="7874000"/>
            <a:ext cx="9690100" cy="4953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3가지 페르소나와 사용자 여정 분석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5100" y="6502400"/>
            <a:ext cx="10528300" cy="2768600"/>
          </a:xfrm>
          <a:prstGeom prst="rect">
            <a:avLst/>
          </a:prstGeom>
        </p:spPr>
      </p:pic>
      <p:sp>
        <p:nvSpPr>
          <p:cNvPr id="21" name="TextBox 21"/>
          <p:cNvSpPr txBox="1"/>
          <p:nvPr/>
        </p:nvSpPr>
        <p:spPr>
          <a:xfrm>
            <a:off x="13335000" y="7035800"/>
            <a:ext cx="97282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핵심 기능 및 차별화 전략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3335000" y="7874000"/>
            <a:ext cx="9690100" cy="4953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MVP 3가지, 유사 서비스 비교, 차별화 포인트</a:t>
            </a: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0300" y="6159500"/>
            <a:ext cx="635000" cy="673100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12687300" y="6261100"/>
            <a:ext cx="368300" cy="469900"/>
          </a:xfrm>
          <a:prstGeom prst="rect">
            <a:avLst/>
          </a:prstGeom>
        </p:spPr>
        <p:txBody>
          <a:bodyPr lIns="0" tIns="47413" rIns="0" bIns="47413" rtlCol="0" anchor="ctr"/>
          <a:lstStyle/>
          <a:p>
            <a:pPr lvl="0" algn="ctr">
              <a:lnSpc>
                <a:spcPct val="92960"/>
              </a:lnSpc>
            </a:pPr>
            <a:r>
              <a:rPr lang="en-US" sz="2666" b="0" i="0" u="none" strike="noStrike" spc="-1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5</a:t>
            </a: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3500" y="10185400"/>
            <a:ext cx="10528300" cy="2768600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6000" y="9842500"/>
            <a:ext cx="635000" cy="673100"/>
          </a:xfrm>
          <a:prstGeom prst="rect">
            <a:avLst/>
          </a:prstGeom>
        </p:spPr>
      </p:pic>
      <p:sp>
        <p:nvSpPr>
          <p:cNvPr id="27" name="TextBox 27"/>
          <p:cNvSpPr txBox="1"/>
          <p:nvPr/>
        </p:nvSpPr>
        <p:spPr>
          <a:xfrm>
            <a:off x="1155700" y="9944100"/>
            <a:ext cx="368300" cy="469900"/>
          </a:xfrm>
          <a:prstGeom prst="rect">
            <a:avLst/>
          </a:prstGeom>
        </p:spPr>
        <p:txBody>
          <a:bodyPr lIns="0" tIns="47413" rIns="0" bIns="47413" rtlCol="0" anchor="ctr"/>
          <a:lstStyle/>
          <a:p>
            <a:pPr lvl="0" algn="ctr">
              <a:lnSpc>
                <a:spcPct val="92960"/>
              </a:lnSpc>
            </a:pPr>
            <a:r>
              <a:rPr lang="en-US" sz="2666" b="0" i="0" u="none" strike="noStrike" spc="-1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3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803400" y="10718800"/>
            <a:ext cx="97282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통계 기반 인사이트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803400" y="11557000"/>
            <a:ext cx="9690100" cy="4953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AI 도입률, 시장 점유율, 토큰 비용 불균형</a:t>
            </a: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65100" y="10185400"/>
            <a:ext cx="10528300" cy="2768600"/>
          </a:xfrm>
          <a:prstGeom prst="rect">
            <a:avLst/>
          </a:prstGeom>
        </p:spPr>
      </p:pic>
      <p:sp>
        <p:nvSpPr>
          <p:cNvPr id="31" name="TextBox 31"/>
          <p:cNvSpPr txBox="1"/>
          <p:nvPr/>
        </p:nvSpPr>
        <p:spPr>
          <a:xfrm>
            <a:off x="13335000" y="10718800"/>
            <a:ext cx="97282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기술 스택 및 프로젝트 일정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335000" y="11557000"/>
            <a:ext cx="9690100" cy="4953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기술 스택, 데이터 활용, 팀 구성, 일정 계획</a:t>
            </a: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60300" y="9842500"/>
            <a:ext cx="635000" cy="673100"/>
          </a:xfrm>
          <a:prstGeom prst="rect">
            <a:avLst/>
          </a:prstGeom>
        </p:spPr>
      </p:pic>
      <p:sp>
        <p:nvSpPr>
          <p:cNvPr id="34" name="TextBox 34"/>
          <p:cNvSpPr txBox="1"/>
          <p:nvPr/>
        </p:nvSpPr>
        <p:spPr>
          <a:xfrm>
            <a:off x="12687300" y="9944100"/>
            <a:ext cx="368300" cy="469900"/>
          </a:xfrm>
          <a:prstGeom prst="rect">
            <a:avLst/>
          </a:prstGeom>
        </p:spPr>
        <p:txBody>
          <a:bodyPr lIns="0" tIns="47413" rIns="0" bIns="47413" rtlCol="0" anchor="ctr"/>
          <a:lstStyle/>
          <a:p>
            <a:pPr lvl="0" algn="ctr">
              <a:lnSpc>
                <a:spcPct val="92960"/>
              </a:lnSpc>
            </a:pPr>
            <a:r>
              <a:rPr lang="en-US" sz="2666" b="0" i="0" u="none" strike="noStrike" spc="-1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09700" y="609600"/>
            <a:ext cx="218694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 algn="l">
              <a:lnSpc>
                <a:spcPct val="99600"/>
              </a:lnSpc>
            </a:pP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프로젝트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개요</a:t>
            </a:r>
            <a:endParaRPr lang="en-US" sz="8000" b="0" i="0" u="none" strike="noStrike" spc="-100" dirty="0">
              <a:solidFill>
                <a:srgbClr val="FFFFFF"/>
              </a:solidFill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3352800"/>
            <a:ext cx="21564600" cy="3441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727200" y="3632200"/>
            <a:ext cx="210566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프로젝트 주제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7200" y="4445000"/>
            <a:ext cx="210312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불필요한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컨텍스트와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토큰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사용을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최소화</a:t>
            </a:r>
            <a:r>
              <a:rPr lang="en-US" sz="3200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,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개발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작업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성능을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유지하는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LLM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워크플로우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최적화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인터랙티브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Wrapper Shell</a:t>
            </a:r>
          </a:p>
          <a:p>
            <a:pPr lvl="0" algn="l">
              <a:lnSpc>
                <a:spcPct val="116199"/>
              </a:lnSpc>
            </a:pP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단순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프롬프트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최적화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도구가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아닌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LLM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사용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방식을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재설계해서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입출력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토큰을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최적화하는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시스템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구축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8293100"/>
            <a:ext cx="21564600" cy="3441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727200" y="8572500"/>
            <a:ext cx="210566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프로젝트 목표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7200" y="9385300"/>
            <a:ext cx="21031200" cy="2349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lvl="0" indent="-457200" algn="l">
              <a:lnSpc>
                <a:spcPct val="116199"/>
              </a:lnSpc>
              <a:buFont typeface="Arial" panose="020B0604020202020204" pitchFamily="34" charset="0"/>
              <a:buChar char="•"/>
            </a:pP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입력을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구조적으로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재구성하여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불필요한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컨텍스트를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제거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  <a:p>
            <a:pPr marL="457200" lvl="0" indent="-457200" algn="l">
              <a:lnSpc>
                <a:spcPct val="116199"/>
              </a:lnSpc>
              <a:buFont typeface="Arial" panose="020B0604020202020204" pitchFamily="34" charset="0"/>
              <a:buChar char="•"/>
            </a:pP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출력은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핵심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정보만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남기며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세션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기반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상태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관리로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반복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전달을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줄여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전체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흐름을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최적화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  <a:p>
            <a:pPr marL="457200" lvl="0" indent="-457200" algn="l">
              <a:lnSpc>
                <a:spcPct val="116199"/>
              </a:lnSpc>
              <a:buFont typeface="Arial" panose="020B0604020202020204" pitchFamily="34" charset="0"/>
              <a:buChar char="•"/>
            </a:pP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개발자가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비용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부담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없이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개발에만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몰입할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수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있는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생산성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극대화를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지향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2AD4E2-DD14-BCEF-52B6-7635DF6B5F4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57300" y="6096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>
              <a:lnSpc>
                <a:spcPct val="99600"/>
              </a:lnSpc>
            </a:pP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문제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인식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(What)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6756400"/>
            <a:ext cx="6591300" cy="5969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6400" y="8763000"/>
            <a:ext cx="6045200" cy="50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700" y="12725400"/>
            <a:ext cx="6591300" cy="3175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600200" y="7797800"/>
            <a:ext cx="62103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비용 및 응답 길이 증가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25600" y="9194800"/>
            <a:ext cx="6172200" cy="2514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LLM 기반 개발에서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불필요한 토큰 사용으로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비용과 응답 길이가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증가하는 문제 발생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" y="2463800"/>
            <a:ext cx="6591300" cy="4102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90000" y="6756400"/>
            <a:ext cx="6591300" cy="59690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9400" y="8763000"/>
            <a:ext cx="6045200" cy="50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90000" y="12725400"/>
            <a:ext cx="6591300" cy="3175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9093200" y="7797800"/>
            <a:ext cx="62103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효율성 저하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05900" y="9194800"/>
            <a:ext cx="6172200" cy="2514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반복되는 컨텍스트와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긴 출력으로 인해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전체적인 개발 효율이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떨어지는 현상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90000" y="2463800"/>
            <a:ext cx="6591300" cy="41021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383000" y="6756400"/>
            <a:ext cx="6591300" cy="59690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649700" y="8763000"/>
            <a:ext cx="6045200" cy="508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83000" y="12725400"/>
            <a:ext cx="6591300" cy="3175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16573500" y="7797800"/>
            <a:ext cx="62103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세션 성능 저하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586200" y="9194800"/>
            <a:ext cx="6172200" cy="2514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세션이 이어질수록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정보가 누적되어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성능이 오히려 저하되는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역설적 상황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383000" y="2463800"/>
            <a:ext cx="6591300" cy="410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09700" y="609600"/>
            <a:ext cx="218694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 algn="l">
              <a:lnSpc>
                <a:spcPct val="99600"/>
              </a:lnSpc>
            </a:pPr>
            <a:r>
              <a:rPr lang="en-US" sz="8000" b="0" i="0" u="none" strike="noStrike" spc="-1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문제 발생 원인 (Why)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235200"/>
            <a:ext cx="21564600" cy="3441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27200" y="2514600"/>
            <a:ext cx="210566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중복 정보 포함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7200" y="3327400"/>
            <a:ext cx="21031200" cy="19431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입력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프롬프트에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중복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정보와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불필요한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컨텍스트가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포함되어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토큰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낭비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세션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간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공유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부족으로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이미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전달한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내용을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반복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설명해야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하는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비효율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발생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6019800"/>
            <a:ext cx="21564600" cy="3441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727200" y="6299200"/>
            <a:ext cx="210566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과도한 설명 경향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7200" y="7112000"/>
            <a:ext cx="21031200" cy="495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모델은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필요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이상으로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상세히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답변하려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하면서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출력이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길어</a:t>
            </a:r>
            <a:r>
              <a:rPr lang="ko-KR" alt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짐</a:t>
            </a:r>
            <a:b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</a:b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이로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인해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출력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토큰이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증가하고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응답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시간이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길</a:t>
            </a:r>
            <a:r>
              <a:rPr lang="ko-KR" alt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어짐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9804400"/>
            <a:ext cx="21564600" cy="3441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727200" y="10083800"/>
            <a:ext cx="210566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상태 관리 부족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7200" y="10896600"/>
            <a:ext cx="21031200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세션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상태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관리가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부족해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매번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전체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맥락을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재전송</a:t>
            </a:r>
            <a:b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</a:b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요청을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독립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처리하는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방식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때문에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히스토리를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반복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전송하게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되어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토큰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사용이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크게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증가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6FA58CF0-99C5-90CA-D6C4-DEEE9A12A97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6387" y="7683500"/>
            <a:ext cx="18177012" cy="4330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6386" y="2819400"/>
            <a:ext cx="18177013" cy="4330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4387" y="4521200"/>
            <a:ext cx="8940800" cy="50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914387" y="3733800"/>
            <a:ext cx="91059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입력 최적화: 구조적 재구성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14386" y="4762500"/>
            <a:ext cx="15154413" cy="17145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입력을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구조화해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불필요한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컨텍스트를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제거</a:t>
            </a: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한국어를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영어로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컴파일해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토큰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효율을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약 2.5배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향상</a:t>
            </a: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09700" y="609600"/>
            <a:ext cx="218694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 algn="l">
              <a:lnSpc>
                <a:spcPct val="99600"/>
              </a:lnSpc>
            </a:pPr>
            <a:r>
              <a:rPr lang="en-US" sz="8000" b="0" i="0" u="none" strike="noStrike" spc="-1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해결 방향 (How)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14387" y="9372600"/>
            <a:ext cx="8940800" cy="5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914387" y="8597900"/>
            <a:ext cx="91059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출력 압축 및 세션 관리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14386" y="9626600"/>
            <a:ext cx="14163813" cy="990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출력은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핵심만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남겨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다음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단계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상태로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압축</a:t>
            </a: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세션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기반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관리로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반복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전달을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줄여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흐름을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최적화</a:t>
            </a: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1D281FAB-69C9-8DEF-1509-AD283D68D7E4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6756400"/>
            <a:ext cx="10350500" cy="5969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0" y="6756400"/>
            <a:ext cx="10350500" cy="5969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5200" y="8763000"/>
            <a:ext cx="9182100" cy="508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3700" y="12725400"/>
            <a:ext cx="10350500" cy="3175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82500" y="12712700"/>
            <a:ext cx="10350500" cy="3175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2159000" y="77978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핵심 기능: 워크플로우 전체 최적화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171700" y="9194800"/>
            <a:ext cx="9309100" cy="2514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lvl="0" indent="-457200">
              <a:lnSpc>
                <a:spcPct val="132800"/>
              </a:lnSpc>
              <a:buFontTx/>
              <a:buChar char="-"/>
            </a:pP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단순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프롬프트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최적화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X</a:t>
            </a:r>
            <a:endParaRPr lang="en-US" sz="32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marL="457200" lvl="0" indent="-457200">
              <a:lnSpc>
                <a:spcPct val="132800"/>
              </a:lnSpc>
              <a:buFontTx/>
              <a:buChar char="-"/>
            </a:pP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전체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워크플로우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오케스트레이션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입력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/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출력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/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세션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상태를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통합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LLM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방식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자체를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재설계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257300" y="6096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>
              <a:lnSpc>
                <a:spcPct val="99600"/>
              </a:lnSpc>
            </a:pP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프로젝트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특화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포인트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및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차별성</a:t>
            </a:r>
            <a:endParaRPr lang="en-US" sz="8000" b="0" i="0" u="none" strike="noStrike" spc="-100" dirty="0">
              <a:solidFill>
                <a:srgbClr val="FFFFFF"/>
              </a:solidFill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0" y="8763000"/>
            <a:ext cx="9182100" cy="508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2463800"/>
            <a:ext cx="10350500" cy="4102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382500" y="2463800"/>
            <a:ext cx="10350500" cy="4102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2877800" y="77978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제공 방식: 인터랙티브 시스템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903200" y="91948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정적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템플릿이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아닌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동적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상태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기존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CLI와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100%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호환되는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래퍼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셸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비용+효율+생산성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동시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향상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8216900"/>
            <a:ext cx="10350500" cy="4508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12725400"/>
            <a:ext cx="103505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57300" y="6096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>
              <a:lnSpc>
                <a:spcPct val="99600"/>
              </a:lnSpc>
            </a:pP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페르소나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1: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최규철</a:t>
            </a:r>
            <a:endParaRPr lang="en-US" sz="8000" b="0" i="0" u="none" strike="noStrike" spc="-100" dirty="0">
              <a:solidFill>
                <a:srgbClr val="FFFFFF"/>
              </a:solidFill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800" y="8216900"/>
            <a:ext cx="10350500" cy="4508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3800" y="12725400"/>
            <a:ext cx="10350500" cy="317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10134600"/>
            <a:ext cx="91821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159000" y="91694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목표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71700" y="105537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최소 입력으로 최대 결과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작업 흐름 유지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토큰 사용 최소화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8000" y="10134600"/>
            <a:ext cx="9182100" cy="50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3131800" y="91694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니즈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44500" y="105537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정해진 크레딧으로 최대 작업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적은 토큰으로 우수한 품질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비용 걱정 없는 개발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2832100"/>
            <a:ext cx="10350500" cy="4508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327900"/>
            <a:ext cx="10350500" cy="317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800" y="2832100"/>
            <a:ext cx="10350500" cy="4508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23800" y="7327900"/>
            <a:ext cx="10350500" cy="317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4749800"/>
            <a:ext cx="9182100" cy="508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159000" y="37846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직무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71700" y="51689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AI 엔지니어 교육생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- 33세, 고누아이 훈련생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CLI 기반 개발 선호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8000" y="4749800"/>
            <a:ext cx="9182100" cy="508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3131800" y="37846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고충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44500" y="51689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반복적인 컨텍스트 재입력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토큰 조기 소진 문제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개발 중단 발생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975DE41E-FDA3-8D3A-4B0C-F3FE2810521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37238" y="177800"/>
            <a:ext cx="17906323" cy="13716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2641600"/>
            <a:ext cx="22606000" cy="104013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700" y="2641600"/>
            <a:ext cx="22593300" cy="13462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31900" y="2959100"/>
            <a:ext cx="5029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직무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4600" y="4406900"/>
            <a:ext cx="5003800" cy="3822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2000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테크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스타트업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엔지니어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2000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개발팀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생산성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관리자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2000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AI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도구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예산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편성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담당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2000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기술적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온보딩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가이드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수립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257300" y="6096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>
              <a:lnSpc>
                <a:spcPct val="99600"/>
              </a:lnSpc>
            </a:pP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페르소나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2: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김지훈</a:t>
            </a:r>
            <a:endParaRPr lang="en-US" sz="8000" b="0" i="0" u="none" strike="noStrike" spc="-100" dirty="0">
              <a:solidFill>
                <a:srgbClr val="FFFFFF"/>
              </a:solidFill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700" y="3987800"/>
            <a:ext cx="22593300" cy="25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333500" y="7823200"/>
            <a:ext cx="10401300" cy="381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6985000" y="7823200"/>
            <a:ext cx="10401300" cy="381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5400000">
            <a:off x="12623800" y="7823200"/>
            <a:ext cx="10401300" cy="381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6883400" y="2959100"/>
            <a:ext cx="5029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고충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896100" y="4406900"/>
            <a:ext cx="5003800" cy="317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2000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팀원별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프롬프트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숙련도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차이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2000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크레딧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소모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속도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제각각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2000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주니어의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예산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낭비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패턴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2000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정량적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부족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2000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AI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활용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효율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측정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어려움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2522200" y="2959100"/>
            <a:ext cx="5029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목표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547600" y="4406900"/>
            <a:ext cx="5003800" cy="3822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2000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팀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전체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AI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활용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효율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32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증대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2000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예산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대비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코드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산출물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극대화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2000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토큰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효율성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정량화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2000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인사고과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반영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마련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8186400" y="2959100"/>
            <a:ext cx="5029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니즈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8199100" y="4406900"/>
            <a:ext cx="5003800" cy="317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2000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자동 프롬프트 압축 시스템</a:t>
            </a:r>
          </a:p>
          <a:p>
            <a:pPr lvl="0">
              <a:lnSpc>
                <a:spcPct val="2000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토큰 사용 효율성 리포트</a:t>
            </a:r>
          </a:p>
          <a:p>
            <a:pPr lvl="0">
              <a:lnSpc>
                <a:spcPct val="2000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팀원 사용 패턴 모니터링</a:t>
            </a:r>
          </a:p>
          <a:p>
            <a:pPr lvl="0">
              <a:lnSpc>
                <a:spcPct val="2000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예산 통제 솔루션</a:t>
            </a:r>
          </a:p>
          <a:p>
            <a:pPr lvl="0">
              <a:lnSpc>
                <a:spcPct val="2000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표준화된 가이드라인</a:t>
            </a:r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D4264757-1D14-EE04-760F-EF883BEECDE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29841" y="82912"/>
            <a:ext cx="16984718" cy="131934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8216900"/>
            <a:ext cx="10350500" cy="4508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12725400"/>
            <a:ext cx="103505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57300" y="6096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>
              <a:lnSpc>
                <a:spcPct val="99600"/>
              </a:lnSpc>
            </a:pP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페르소나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3: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한시호</a:t>
            </a:r>
            <a:endParaRPr lang="en-US" sz="8000" b="0" i="0" u="none" strike="noStrike" spc="-100" dirty="0">
              <a:solidFill>
                <a:srgbClr val="FFFFFF"/>
              </a:solidFill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800" y="8216900"/>
            <a:ext cx="10350500" cy="4508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3800" y="12725400"/>
            <a:ext cx="10350500" cy="317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10134600"/>
            <a:ext cx="91821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159000" y="91694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목표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71700" y="105537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명령 충돌 사전 차단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한 번의 요청으로 결과 도출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환경 차이 문제 해결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8000" y="10134600"/>
            <a:ext cx="9182100" cy="50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3131800" y="91694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니즈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44500" y="105537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환경 명시 자동화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재시도 방지 설계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토큰 효율 최적화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2832100"/>
            <a:ext cx="10350500" cy="4508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327900"/>
            <a:ext cx="10350500" cy="317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800" y="2832100"/>
            <a:ext cx="10350500" cy="4508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23800" y="7327900"/>
            <a:ext cx="10350500" cy="317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4749800"/>
            <a:ext cx="9182100" cy="508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159000" y="37846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직무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71700" y="51689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싱어송라이터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- 29세, 피곤함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개발을 취미로 함</a:t>
            </a: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8000" y="4749800"/>
            <a:ext cx="9182100" cy="508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3131800" y="37846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고충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44500" y="51689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OS환경별 에이전트 권한 충돌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명령어 충돌로 재시도 발생</a:t>
            </a:r>
          </a:p>
          <a:p>
            <a:pPr lvl="0" algn="ctr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토큰 낭비 및 스트레스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8216900"/>
            <a:ext cx="10350500" cy="4508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12725400"/>
            <a:ext cx="103505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57300" y="6096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>
              <a:lnSpc>
                <a:spcPct val="99600"/>
              </a:lnSpc>
            </a:pP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유저맵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: </a:t>
            </a:r>
            <a:r>
              <a:rPr lang="en-US" sz="8000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B2C(</a:t>
            </a:r>
            <a:r>
              <a:rPr lang="ko-KR" altLang="en-US" sz="8000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개인 개발자</a:t>
            </a:r>
            <a:r>
              <a:rPr lang="en-US" altLang="ko-KR" sz="8000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)</a:t>
            </a:r>
            <a:endParaRPr lang="en-US" sz="8000" b="0" i="0" u="none" strike="noStrike" spc="-100" dirty="0">
              <a:solidFill>
                <a:srgbClr val="FFFFFF"/>
              </a:solidFill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800" y="8216900"/>
            <a:ext cx="10350500" cy="4508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3800" y="12725400"/>
            <a:ext cx="10350500" cy="317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10134600"/>
            <a:ext cx="91821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159000" y="91694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문제</a:t>
            </a:r>
            <a:r>
              <a:rPr lang="en-US" sz="4000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4000" b="0" i="0" u="none" strike="noStrike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해결</a:t>
            </a:r>
            <a:endParaRPr lang="en-US" sz="4000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171700" y="105537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3200" dirty="0"/>
              <a:t>입력 압축 및 출력 제어로 동일 작업 대비 크레딧 비용 </a:t>
            </a:r>
            <a:r>
              <a:rPr lang="ko-KR" altLang="en-US" sz="3200" b="1" dirty="0"/>
              <a:t>획기적 절감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8000" y="10134600"/>
            <a:ext cx="9182100" cy="50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3131800" y="91694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재사용 및 전파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44500" y="105537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3200" dirty="0"/>
              <a:t>비용 걱정 없는 개발 몰입 환경 구축 및 개인 포트폴리오 활용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2832100"/>
            <a:ext cx="6794500" cy="4508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327900"/>
            <a:ext cx="6794500" cy="317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5500" y="2832100"/>
            <a:ext cx="6794500" cy="4508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65500" y="7327900"/>
            <a:ext cx="6794500" cy="317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7207" y="4749800"/>
            <a:ext cx="6027513" cy="508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081008" y="3784600"/>
            <a:ext cx="6135892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ko-KR" altLang="en-US" sz="4000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문제 인식</a:t>
            </a:r>
            <a:endParaRPr lang="en-US" sz="4000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093707" y="5168900"/>
            <a:ext cx="6110882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3200" dirty="0" err="1"/>
              <a:t>클로드</a:t>
            </a:r>
            <a:r>
              <a:rPr lang="en-US" altLang="ko-KR" sz="3200" dirty="0"/>
              <a:t>/</a:t>
            </a:r>
            <a:r>
              <a:rPr lang="ko-KR" altLang="en-US" sz="3200" dirty="0"/>
              <a:t>제미나이 사용 시 크레딧 소모 속도가 너무 빨라 심리적 부담 가중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71707" y="4749800"/>
            <a:ext cx="6027513" cy="508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6495508" y="3784600"/>
            <a:ext cx="6135892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ko-KR" altLang="en-US" sz="4000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솔루션 체험</a:t>
            </a:r>
            <a:endParaRPr lang="en-US" sz="4000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6508207" y="5168900"/>
            <a:ext cx="6110882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altLang="ko-KR" sz="3200" b="1" dirty="0" err="1"/>
              <a:t>Tokit</a:t>
            </a:r>
            <a:r>
              <a:rPr lang="en-US" altLang="ko-KR" sz="3200" b="1" dirty="0"/>
              <a:t> CLI</a:t>
            </a:r>
            <a:r>
              <a:rPr lang="en-US" altLang="ko-KR" sz="3200" dirty="0"/>
              <a:t> </a:t>
            </a:r>
            <a:r>
              <a:rPr lang="ko-KR" altLang="en-US" sz="3200" dirty="0"/>
              <a:t>설치 후 기존 워크플로우에 최적화 레이어 적용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6" name="Picture 17">
            <a:extLst>
              <a:ext uri="{FF2B5EF4-FFF2-40B4-BE49-F238E27FC236}">
                <a16:creationId xmlns:a16="http://schemas.microsoft.com/office/drawing/2014/main" id="{E69B604C-E7B7-AB1E-CAD2-55AE3EF522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093" y="2839884"/>
            <a:ext cx="6794500" cy="4508500"/>
          </a:xfrm>
          <a:prstGeom prst="rect">
            <a:avLst/>
          </a:prstGeom>
        </p:spPr>
      </p:pic>
      <p:pic>
        <p:nvPicPr>
          <p:cNvPr id="27" name="Picture 18">
            <a:extLst>
              <a:ext uri="{FF2B5EF4-FFF2-40B4-BE49-F238E27FC236}">
                <a16:creationId xmlns:a16="http://schemas.microsoft.com/office/drawing/2014/main" id="{CBDE21F4-C0F5-388A-0B53-FECAE0D3048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9093" y="7335684"/>
            <a:ext cx="6794500" cy="317500"/>
          </a:xfrm>
          <a:prstGeom prst="rect">
            <a:avLst/>
          </a:prstGeom>
        </p:spPr>
      </p:pic>
      <p:pic>
        <p:nvPicPr>
          <p:cNvPr id="28" name="Picture 22">
            <a:extLst>
              <a:ext uri="{FF2B5EF4-FFF2-40B4-BE49-F238E27FC236}">
                <a16:creationId xmlns:a16="http://schemas.microsoft.com/office/drawing/2014/main" id="{85D2908E-949D-3EE5-9A2A-F3C1B12F99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5300" y="4757584"/>
            <a:ext cx="6027513" cy="50800"/>
          </a:xfrm>
          <a:prstGeom prst="rect">
            <a:avLst/>
          </a:prstGeom>
        </p:spPr>
      </p:pic>
      <p:sp>
        <p:nvSpPr>
          <p:cNvPr id="29" name="TextBox 23">
            <a:extLst>
              <a:ext uri="{FF2B5EF4-FFF2-40B4-BE49-F238E27FC236}">
                <a16:creationId xmlns:a16="http://schemas.microsoft.com/office/drawing/2014/main" id="{9DC180D6-378E-0F2F-96D5-53363DAF9392}"/>
              </a:ext>
            </a:extLst>
          </p:cNvPr>
          <p:cNvSpPr txBox="1"/>
          <p:nvPr/>
        </p:nvSpPr>
        <p:spPr>
          <a:xfrm>
            <a:off x="9309101" y="3792384"/>
            <a:ext cx="6135892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ko-KR" altLang="en-US" sz="4000" b="0" i="0" u="none" strike="noStrike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정보 탐색</a:t>
            </a:r>
            <a:endParaRPr lang="en-US" sz="4000" b="0" i="0" u="none" strike="noStrike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0" name="TextBox 24">
            <a:extLst>
              <a:ext uri="{FF2B5EF4-FFF2-40B4-BE49-F238E27FC236}">
                <a16:creationId xmlns:a16="http://schemas.microsoft.com/office/drawing/2014/main" id="{7B473CEA-24E4-15C2-376C-8EEE68FA5620}"/>
              </a:ext>
            </a:extLst>
          </p:cNvPr>
          <p:cNvSpPr txBox="1"/>
          <p:nvPr/>
        </p:nvSpPr>
        <p:spPr>
          <a:xfrm>
            <a:off x="9321800" y="5176684"/>
            <a:ext cx="6110882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3200" dirty="0"/>
              <a:t>토큰을 아끼는 프롬프트 기법이나 저렴한 </a:t>
            </a:r>
            <a:r>
              <a:rPr lang="en-US" altLang="ko-KR" sz="3200" dirty="0"/>
              <a:t>API </a:t>
            </a:r>
            <a:r>
              <a:rPr lang="ko-KR" altLang="en-US" sz="3200" dirty="0"/>
              <a:t>활용 방안 탐색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4DC4C7-430A-FBFF-5337-AAA93F22F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19A39309-44E8-FE0A-9240-54767AA6AA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8216900"/>
            <a:ext cx="10350500" cy="45085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C5A0B194-33B7-7AD6-BF7B-BE97627DD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12725400"/>
            <a:ext cx="10350500" cy="317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52E57993-50FD-E278-0AFA-A85FF0E4556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A29C2F6C-F861-2538-BB56-CB67FDC7EBFC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AD5DEE30-9776-DAF1-4EEB-403465D7F7D5}"/>
              </a:ext>
            </a:extLst>
          </p:cNvPr>
          <p:cNvSpPr txBox="1"/>
          <p:nvPr/>
        </p:nvSpPr>
        <p:spPr>
          <a:xfrm>
            <a:off x="1257300" y="6096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marL="0" marR="0" lvl="0" indent="0" algn="l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-1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lack"/>
                <a:ea typeface="Pretendard Black"/>
                <a:cs typeface="Pretendard Black"/>
              </a:rPr>
              <a:t>유저맵</a:t>
            </a:r>
            <a:r>
              <a:rPr kumimoji="0" lang="en-US" sz="80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lack"/>
                <a:ea typeface="Pretendard Black"/>
                <a:cs typeface="Pretendard Black"/>
              </a:rPr>
              <a:t>: B2</a:t>
            </a:r>
            <a:r>
              <a:rPr lang="en-US" sz="8000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B or B2G</a:t>
            </a:r>
            <a:r>
              <a:rPr kumimoji="0" lang="en-US" sz="80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lack"/>
                <a:ea typeface="Pretendard Black"/>
                <a:cs typeface="Pretendard Black"/>
              </a:rPr>
              <a:t>(</a:t>
            </a:r>
            <a:r>
              <a:rPr lang="ko-KR" altLang="en-US" sz="8000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테크</a:t>
            </a:r>
            <a:r>
              <a:rPr lang="ko-KR" altLang="en-US" sz="8000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매니저</a:t>
            </a:r>
            <a:r>
              <a:rPr kumimoji="0" lang="en-US" altLang="ko-KR" sz="80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lack"/>
                <a:ea typeface="Pretendard Black"/>
                <a:cs typeface="Pretendard Black"/>
              </a:rPr>
              <a:t>)</a:t>
            </a:r>
            <a:endParaRPr kumimoji="0" lang="en-US" sz="80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2089E5E6-98CA-3EE1-56FF-CE3C2A03B4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800" y="8216900"/>
            <a:ext cx="10350500" cy="45085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ED31C9C2-E693-2601-FF16-61A65ACD40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3800" y="12725400"/>
            <a:ext cx="10350500" cy="3175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6C15F7B4-21BB-8D5D-4766-6E3003CC442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10134600"/>
            <a:ext cx="9182100" cy="508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D7DFEBD3-FF0E-0841-6A2E-F8BD7760185A}"/>
              </a:ext>
            </a:extLst>
          </p:cNvPr>
          <p:cNvSpPr txBox="1"/>
          <p:nvPr/>
        </p:nvSpPr>
        <p:spPr>
          <a:xfrm>
            <a:off x="2159000" y="91694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marL="0" marR="0" lvl="0" indent="0" algn="ctr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문제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해결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6E52012-18C1-CE2E-C689-130BC3ACA48D}"/>
              </a:ext>
            </a:extLst>
          </p:cNvPr>
          <p:cNvSpPr txBox="1"/>
          <p:nvPr/>
        </p:nvSpPr>
        <p:spPr>
          <a:xfrm>
            <a:off x="2171700" y="105537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3200" dirty="0"/>
              <a:t>표준화된 프롬프트 컴파일링으로 팀 전체 비용 감소 및 생산성 데이터 확보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68EC61C6-D301-3C8D-5302-0EE88A9C45D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8000" y="10134600"/>
            <a:ext cx="9182100" cy="508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A89EF692-9187-9F6E-E109-B9DEBF76CD14}"/>
              </a:ext>
            </a:extLst>
          </p:cNvPr>
          <p:cNvSpPr txBox="1"/>
          <p:nvPr/>
        </p:nvSpPr>
        <p:spPr>
          <a:xfrm>
            <a:off x="13131800" y="91694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marL="0" marR="0" lvl="0" indent="0" algn="ctr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재사용 및 전파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6AC2F7EE-F24F-5B92-F1DA-96D99C941C1A}"/>
              </a:ext>
            </a:extLst>
          </p:cNvPr>
          <p:cNvSpPr txBox="1"/>
          <p:nvPr/>
        </p:nvSpPr>
        <p:spPr>
          <a:xfrm>
            <a:off x="13144500" y="105537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3200" dirty="0"/>
              <a:t>데이터 기반의 </a:t>
            </a:r>
            <a:r>
              <a:rPr lang="en-US" altLang="ko-KR" sz="3200" dirty="0"/>
              <a:t>AI </a:t>
            </a:r>
            <a:r>
              <a:rPr lang="ko-KR" altLang="en-US" sz="3200" dirty="0"/>
              <a:t>인사고과 반영 및 효율적인 연간 예산 편성 가능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3318EA2F-E52D-6988-91FE-9059D18E4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2832100"/>
            <a:ext cx="6794500" cy="45085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E84F387C-CAD2-9C93-875F-1C071749E16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327900"/>
            <a:ext cx="6794500" cy="3175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229AB57B-C3E2-877C-2D2B-7BB3A7A4E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5500" y="2832100"/>
            <a:ext cx="6794500" cy="4508500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567789E9-168F-E5D1-A0D3-84BB07A895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65500" y="7327900"/>
            <a:ext cx="6794500" cy="3175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B9B6BDD3-16CE-D78C-C781-8EB745D13DD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7207" y="4749800"/>
            <a:ext cx="6027513" cy="50800"/>
          </a:xfrm>
          <a:prstGeom prst="rect">
            <a:avLst/>
          </a:prstGeom>
        </p:spPr>
      </p:pic>
      <p:sp>
        <p:nvSpPr>
          <p:cNvPr id="20" name="TextBox 20">
            <a:extLst>
              <a:ext uri="{FF2B5EF4-FFF2-40B4-BE49-F238E27FC236}">
                <a16:creationId xmlns:a16="http://schemas.microsoft.com/office/drawing/2014/main" id="{E97631EC-CAC1-C87C-54C0-96AFF2754953}"/>
              </a:ext>
            </a:extLst>
          </p:cNvPr>
          <p:cNvSpPr txBox="1"/>
          <p:nvPr/>
        </p:nvSpPr>
        <p:spPr>
          <a:xfrm>
            <a:off x="2081008" y="3784600"/>
            <a:ext cx="6135892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marL="0" marR="0" lvl="0" indent="0" algn="ctr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문제 인식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17F49422-F524-B644-1315-8A6A1549FD65}"/>
              </a:ext>
            </a:extLst>
          </p:cNvPr>
          <p:cNvSpPr txBox="1"/>
          <p:nvPr/>
        </p:nvSpPr>
        <p:spPr>
          <a:xfrm>
            <a:off x="2093707" y="5168900"/>
            <a:ext cx="6110882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3200" dirty="0" err="1"/>
              <a:t>팀원별</a:t>
            </a:r>
            <a:r>
              <a:rPr lang="ko-KR" altLang="en-US" sz="3200" dirty="0"/>
              <a:t> 프롬프트 숙련도 차이로 인한 예산 낭비 및 정량적 관리 지표 부재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2" name="Picture 22">
            <a:extLst>
              <a:ext uri="{FF2B5EF4-FFF2-40B4-BE49-F238E27FC236}">
                <a16:creationId xmlns:a16="http://schemas.microsoft.com/office/drawing/2014/main" id="{C76B8949-2383-30BD-AC5A-1B71106D382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71707" y="4749800"/>
            <a:ext cx="6027513" cy="508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018D1D17-FDBE-4234-1A3C-301CAC79B235}"/>
              </a:ext>
            </a:extLst>
          </p:cNvPr>
          <p:cNvSpPr txBox="1"/>
          <p:nvPr/>
        </p:nvSpPr>
        <p:spPr>
          <a:xfrm>
            <a:off x="16495508" y="3784600"/>
            <a:ext cx="6135892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marL="0" marR="0" lvl="0" indent="0" algn="ctr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솔루션 체험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6AAAE425-D5B9-3EF4-F243-6938E069435A}"/>
              </a:ext>
            </a:extLst>
          </p:cNvPr>
          <p:cNvSpPr txBox="1"/>
          <p:nvPr/>
        </p:nvSpPr>
        <p:spPr>
          <a:xfrm>
            <a:off x="16508207" y="5168900"/>
            <a:ext cx="6110882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3200" dirty="0"/>
              <a:t>팀 전체에 </a:t>
            </a:r>
            <a:r>
              <a:rPr lang="en-US" altLang="ko-KR" sz="3200" dirty="0" err="1"/>
              <a:t>Tokit</a:t>
            </a:r>
            <a:r>
              <a:rPr lang="en-US" altLang="ko-KR" sz="3200" dirty="0"/>
              <a:t> </a:t>
            </a:r>
            <a:r>
              <a:rPr lang="ko-KR" altLang="en-US" sz="3200" dirty="0"/>
              <a:t>도입 및 대시보드를 통한 토큰 사용 효율성 모니터링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6" name="Picture 17">
            <a:extLst>
              <a:ext uri="{FF2B5EF4-FFF2-40B4-BE49-F238E27FC236}">
                <a16:creationId xmlns:a16="http://schemas.microsoft.com/office/drawing/2014/main" id="{535C07C9-8065-5C97-5FD0-96E540A48F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093" y="2839884"/>
            <a:ext cx="6794500" cy="4508500"/>
          </a:xfrm>
          <a:prstGeom prst="rect">
            <a:avLst/>
          </a:prstGeom>
        </p:spPr>
      </p:pic>
      <p:pic>
        <p:nvPicPr>
          <p:cNvPr id="27" name="Picture 18">
            <a:extLst>
              <a:ext uri="{FF2B5EF4-FFF2-40B4-BE49-F238E27FC236}">
                <a16:creationId xmlns:a16="http://schemas.microsoft.com/office/drawing/2014/main" id="{7F61D4F6-317A-DFED-5CC6-ECD875BCB2B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9093" y="7335684"/>
            <a:ext cx="6794500" cy="317500"/>
          </a:xfrm>
          <a:prstGeom prst="rect">
            <a:avLst/>
          </a:prstGeom>
        </p:spPr>
      </p:pic>
      <p:pic>
        <p:nvPicPr>
          <p:cNvPr id="28" name="Picture 22">
            <a:extLst>
              <a:ext uri="{FF2B5EF4-FFF2-40B4-BE49-F238E27FC236}">
                <a16:creationId xmlns:a16="http://schemas.microsoft.com/office/drawing/2014/main" id="{335E78BC-39AA-6126-6B84-99AB4DB2E6F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5300" y="4757584"/>
            <a:ext cx="6027513" cy="50800"/>
          </a:xfrm>
          <a:prstGeom prst="rect">
            <a:avLst/>
          </a:prstGeom>
        </p:spPr>
      </p:pic>
      <p:sp>
        <p:nvSpPr>
          <p:cNvPr id="29" name="TextBox 23">
            <a:extLst>
              <a:ext uri="{FF2B5EF4-FFF2-40B4-BE49-F238E27FC236}">
                <a16:creationId xmlns:a16="http://schemas.microsoft.com/office/drawing/2014/main" id="{55B8B220-DFDD-054B-10C2-E9D78FD4EF05}"/>
              </a:ext>
            </a:extLst>
          </p:cNvPr>
          <p:cNvSpPr txBox="1"/>
          <p:nvPr/>
        </p:nvSpPr>
        <p:spPr>
          <a:xfrm>
            <a:off x="9309101" y="3792384"/>
            <a:ext cx="6135892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marL="0" marR="0" lvl="0" indent="0" algn="ctr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정보 탐색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0" name="TextBox 24">
            <a:extLst>
              <a:ext uri="{FF2B5EF4-FFF2-40B4-BE49-F238E27FC236}">
                <a16:creationId xmlns:a16="http://schemas.microsoft.com/office/drawing/2014/main" id="{28748CEB-14DA-2B76-7972-304515ED0476}"/>
              </a:ext>
            </a:extLst>
          </p:cNvPr>
          <p:cNvSpPr txBox="1"/>
          <p:nvPr/>
        </p:nvSpPr>
        <p:spPr>
          <a:xfrm>
            <a:off x="9321800" y="5176684"/>
            <a:ext cx="6110882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altLang="ko-KR" sz="3200" dirty="0"/>
              <a:t>AI </a:t>
            </a:r>
            <a:r>
              <a:rPr lang="ko-KR" altLang="en-US" sz="3200" dirty="0"/>
              <a:t>도구 활용 효율</a:t>
            </a:r>
            <a:r>
              <a:rPr lang="en-US" altLang="ko-KR" sz="3200" dirty="0"/>
              <a:t>(Efficiency) </a:t>
            </a:r>
            <a:r>
              <a:rPr lang="ko-KR" altLang="en-US" sz="3200" dirty="0"/>
              <a:t>상향 평준화 및 예산 통제 솔루션 조사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9536220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73644-A438-A8C5-C584-2A24E29A7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E0CC8ADE-F711-31F3-15BF-905D0EF602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8216900"/>
            <a:ext cx="10350500" cy="45085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4DE91CB-9427-1183-2871-443A4D1241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12725400"/>
            <a:ext cx="10350500" cy="317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2DAB9515-EA14-9702-E061-8F6DBC4944D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384F65DC-EDEC-A644-51B2-D673D9814A15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2F57CBE4-2882-2147-DF26-85D0CC51BD64}"/>
              </a:ext>
            </a:extLst>
          </p:cNvPr>
          <p:cNvSpPr txBox="1"/>
          <p:nvPr/>
        </p:nvSpPr>
        <p:spPr>
          <a:xfrm>
            <a:off x="1257300" y="6096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marL="0" marR="0" lvl="0" indent="0" algn="l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-1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lack"/>
                <a:ea typeface="Pretendard Black"/>
                <a:cs typeface="Pretendard Black"/>
              </a:rPr>
              <a:t>유저맵</a:t>
            </a:r>
            <a:r>
              <a:rPr kumimoji="0" lang="en-US" sz="80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lack"/>
                <a:ea typeface="Pretendard Black"/>
                <a:cs typeface="Pretendard Black"/>
              </a:rPr>
              <a:t>: </a:t>
            </a:r>
            <a:r>
              <a:rPr kumimoji="0" lang="ko-KR" altLang="en-US" sz="80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lack"/>
                <a:ea typeface="Pretendard Black"/>
                <a:cs typeface="Pretendard Black"/>
              </a:rPr>
              <a:t>환경에 민감한 개발자</a:t>
            </a:r>
            <a:endParaRPr kumimoji="0" lang="en-US" sz="80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A2A948D4-5449-64F4-55FB-0634FDDF0C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800" y="8216900"/>
            <a:ext cx="10350500" cy="45085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F55CECB3-35E6-56AE-F86B-4F013F1A048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3800" y="12725400"/>
            <a:ext cx="10350500" cy="3175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6ED28A94-72A2-17FE-3E17-6371FFAD01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10134600"/>
            <a:ext cx="9182100" cy="508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EBEBAA48-897F-F94E-0A11-C06512C4DE2B}"/>
              </a:ext>
            </a:extLst>
          </p:cNvPr>
          <p:cNvSpPr txBox="1"/>
          <p:nvPr/>
        </p:nvSpPr>
        <p:spPr>
          <a:xfrm>
            <a:off x="2159000" y="91694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marL="0" marR="0" lvl="0" indent="0" algn="ctr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문제</a:t>
            </a:r>
            <a:r>
              <a:rPr kumimoji="0" 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 </a:t>
            </a:r>
            <a:r>
              <a:rPr kumimoji="0" 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해결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2D1D079-3C0E-AE1C-94A4-D6486CAB03B1}"/>
              </a:ext>
            </a:extLst>
          </p:cNvPr>
          <p:cNvSpPr txBox="1"/>
          <p:nvPr/>
        </p:nvSpPr>
        <p:spPr>
          <a:xfrm>
            <a:off x="2171700" y="105537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altLang="ko-KR" sz="3200" b="1" dirty="0"/>
              <a:t>Shared Context</a:t>
            </a:r>
            <a:r>
              <a:rPr lang="en-US" altLang="ko-KR" sz="3200" dirty="0"/>
              <a:t> </a:t>
            </a:r>
            <a:r>
              <a:rPr lang="ko-KR" altLang="en-US" sz="3200" dirty="0"/>
              <a:t>분리로 환경 기반 에러 감소 및 단일 요청 성공률 향상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1C00C68A-BFD4-3EAA-4A7E-187136292A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8000" y="10134600"/>
            <a:ext cx="9182100" cy="508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842D7CBE-E487-9C57-F632-9B8B453CE040}"/>
              </a:ext>
            </a:extLst>
          </p:cNvPr>
          <p:cNvSpPr txBox="1"/>
          <p:nvPr/>
        </p:nvSpPr>
        <p:spPr>
          <a:xfrm>
            <a:off x="13131800" y="91694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marL="0" marR="0" lvl="0" indent="0" algn="ctr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재사용 및 전파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20AF4FC9-892C-9979-D11A-D68EC988D31F}"/>
              </a:ext>
            </a:extLst>
          </p:cNvPr>
          <p:cNvSpPr txBox="1"/>
          <p:nvPr/>
        </p:nvSpPr>
        <p:spPr>
          <a:xfrm>
            <a:off x="13144500" y="105537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3200" dirty="0"/>
              <a:t>다양한 </a:t>
            </a:r>
            <a:r>
              <a:rPr lang="en-US" altLang="ko-KR" sz="3200" dirty="0"/>
              <a:t>OS </a:t>
            </a:r>
            <a:r>
              <a:rPr lang="ko-KR" altLang="en-US" sz="3200" dirty="0"/>
              <a:t>환경</a:t>
            </a:r>
            <a:r>
              <a:rPr lang="en-US" altLang="ko-KR" sz="3200" dirty="0"/>
              <a:t>(Mac/Ubuntu)</a:t>
            </a:r>
            <a:r>
              <a:rPr lang="ko-KR" altLang="en-US" sz="3200" dirty="0"/>
              <a:t>에서도 일관된 성능 유지 및 커뮤니티 전파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57D18563-1C4F-B972-C191-6FC9C759F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2832100"/>
            <a:ext cx="6794500" cy="45085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3AA77358-41A5-C55D-02C8-932C23F35EC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327900"/>
            <a:ext cx="6794500" cy="3175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13187708-573D-68D9-2F0D-B6820A3AF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65500" y="2832100"/>
            <a:ext cx="6794500" cy="4508500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66BBFAD6-8BD2-A9A0-45C1-2B1E395B0EF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065500" y="7327900"/>
            <a:ext cx="6794500" cy="3175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7E7C86BB-8976-3F96-1D46-9AE8068ACE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157207" y="4749800"/>
            <a:ext cx="6027513" cy="50800"/>
          </a:xfrm>
          <a:prstGeom prst="rect">
            <a:avLst/>
          </a:prstGeom>
        </p:spPr>
      </p:pic>
      <p:sp>
        <p:nvSpPr>
          <p:cNvPr id="20" name="TextBox 20">
            <a:extLst>
              <a:ext uri="{FF2B5EF4-FFF2-40B4-BE49-F238E27FC236}">
                <a16:creationId xmlns:a16="http://schemas.microsoft.com/office/drawing/2014/main" id="{FBBEC590-4F00-FCC5-4F55-097F1A65BB9F}"/>
              </a:ext>
            </a:extLst>
          </p:cNvPr>
          <p:cNvSpPr txBox="1"/>
          <p:nvPr/>
        </p:nvSpPr>
        <p:spPr>
          <a:xfrm>
            <a:off x="2081008" y="3784600"/>
            <a:ext cx="6135892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marL="0" marR="0" lvl="0" indent="0" algn="ctr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문제 인식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78B2E152-A1CD-1C04-D715-290A47AE6998}"/>
              </a:ext>
            </a:extLst>
          </p:cNvPr>
          <p:cNvSpPr txBox="1"/>
          <p:nvPr/>
        </p:nvSpPr>
        <p:spPr>
          <a:xfrm>
            <a:off x="2093707" y="5168900"/>
            <a:ext cx="6110882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altLang="ko-KR" sz="3200" dirty="0"/>
              <a:t>OS/</a:t>
            </a:r>
            <a:r>
              <a:rPr lang="ko-KR" altLang="en-US" sz="3200" dirty="0"/>
              <a:t>환경별 명령 충돌로 인한 반복 요청 및 불필요한 토큰 낭비 발생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2" name="Picture 22">
            <a:extLst>
              <a:ext uri="{FF2B5EF4-FFF2-40B4-BE49-F238E27FC236}">
                <a16:creationId xmlns:a16="http://schemas.microsoft.com/office/drawing/2014/main" id="{9361AB11-0EFA-9057-AA6B-F0B8947803E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71707" y="4749800"/>
            <a:ext cx="6027513" cy="508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87B0C200-5C42-640A-942B-2EBDDB637827}"/>
              </a:ext>
            </a:extLst>
          </p:cNvPr>
          <p:cNvSpPr txBox="1"/>
          <p:nvPr/>
        </p:nvSpPr>
        <p:spPr>
          <a:xfrm>
            <a:off x="16495508" y="3784600"/>
            <a:ext cx="6135892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marL="0" marR="0" lvl="0" indent="0" algn="ctr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솔루션 체험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8F54DF17-7519-DD14-DBE6-ECF86D851F2E}"/>
              </a:ext>
            </a:extLst>
          </p:cNvPr>
          <p:cNvSpPr txBox="1"/>
          <p:nvPr/>
        </p:nvSpPr>
        <p:spPr>
          <a:xfrm>
            <a:off x="16508207" y="5168900"/>
            <a:ext cx="6110882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en-US" altLang="ko-KR" sz="3200" dirty="0" err="1"/>
              <a:t>Tokit</a:t>
            </a:r>
            <a:r>
              <a:rPr lang="ko-KR" altLang="en-US" sz="3200" dirty="0"/>
              <a:t>의 환경 명시 자동화 기능을 통해 명령 실행 전 충돌 가능성 점검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6" name="Picture 17">
            <a:extLst>
              <a:ext uri="{FF2B5EF4-FFF2-40B4-BE49-F238E27FC236}">
                <a16:creationId xmlns:a16="http://schemas.microsoft.com/office/drawing/2014/main" id="{FB7E4A49-0018-B56E-C280-DE2153C42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79093" y="2839884"/>
            <a:ext cx="6794500" cy="4508500"/>
          </a:xfrm>
          <a:prstGeom prst="rect">
            <a:avLst/>
          </a:prstGeom>
        </p:spPr>
      </p:pic>
      <p:pic>
        <p:nvPicPr>
          <p:cNvPr id="27" name="Picture 18">
            <a:extLst>
              <a:ext uri="{FF2B5EF4-FFF2-40B4-BE49-F238E27FC236}">
                <a16:creationId xmlns:a16="http://schemas.microsoft.com/office/drawing/2014/main" id="{D45C5A93-62B9-C0D7-C855-82077925F4A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9093" y="7335684"/>
            <a:ext cx="6794500" cy="317500"/>
          </a:xfrm>
          <a:prstGeom prst="rect">
            <a:avLst/>
          </a:prstGeom>
        </p:spPr>
      </p:pic>
      <p:pic>
        <p:nvPicPr>
          <p:cNvPr id="28" name="Picture 22">
            <a:extLst>
              <a:ext uri="{FF2B5EF4-FFF2-40B4-BE49-F238E27FC236}">
                <a16:creationId xmlns:a16="http://schemas.microsoft.com/office/drawing/2014/main" id="{3F405D4E-BE28-535A-D771-DABBF6DA904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5300" y="4757584"/>
            <a:ext cx="6027513" cy="50800"/>
          </a:xfrm>
          <a:prstGeom prst="rect">
            <a:avLst/>
          </a:prstGeom>
        </p:spPr>
      </p:pic>
      <p:sp>
        <p:nvSpPr>
          <p:cNvPr id="29" name="TextBox 23">
            <a:extLst>
              <a:ext uri="{FF2B5EF4-FFF2-40B4-BE49-F238E27FC236}">
                <a16:creationId xmlns:a16="http://schemas.microsoft.com/office/drawing/2014/main" id="{BAE78562-8F9B-0F26-3ABB-BE571EA98460}"/>
              </a:ext>
            </a:extLst>
          </p:cNvPr>
          <p:cNvSpPr txBox="1"/>
          <p:nvPr/>
        </p:nvSpPr>
        <p:spPr>
          <a:xfrm>
            <a:off x="9309101" y="3792384"/>
            <a:ext cx="6135892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marL="0" marR="0" lvl="0" indent="0" algn="ctr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정보 탐색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30" name="TextBox 24">
            <a:extLst>
              <a:ext uri="{FF2B5EF4-FFF2-40B4-BE49-F238E27FC236}">
                <a16:creationId xmlns:a16="http://schemas.microsoft.com/office/drawing/2014/main" id="{39DB0B1A-D77E-101A-5454-2317FF3959EF}"/>
              </a:ext>
            </a:extLst>
          </p:cNvPr>
          <p:cNvSpPr txBox="1"/>
          <p:nvPr/>
        </p:nvSpPr>
        <p:spPr>
          <a:xfrm>
            <a:off x="9321800" y="5176684"/>
            <a:ext cx="6110882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ctr">
              <a:lnSpc>
                <a:spcPct val="132800"/>
              </a:lnSpc>
            </a:pPr>
            <a:r>
              <a:rPr lang="ko-KR" altLang="en-US" sz="3200" dirty="0"/>
              <a:t>환경 정보를 자동으로 주입하거나 재시도를 줄여주는 에이전트 도구 탐색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28722095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09700" y="609600"/>
            <a:ext cx="218694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 algn="l">
              <a:lnSpc>
                <a:spcPct val="99600"/>
              </a:lnSpc>
            </a:pPr>
            <a:r>
              <a:rPr lang="en-US" sz="8000" b="0" i="0" u="none" strike="noStrike" spc="-1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유저맵: 문제 인식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235200"/>
            <a:ext cx="21564600" cy="3441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27200" y="2514600"/>
            <a:ext cx="210566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개인 개발자 (B2C)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7200" y="3327400"/>
            <a:ext cx="210312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클로드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/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제미나이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사용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시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크레딧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소모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속도가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너무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빠름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심리적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부담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가중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개발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중단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우려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비용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대비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효율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저하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6019800"/>
            <a:ext cx="21564600" cy="3441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727200" y="6299200"/>
            <a:ext cx="210566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테크 매니저 (B2B/G)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7200" y="7112000"/>
            <a:ext cx="210312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팀원별 프롬프트 숙련도 차이로 예산 낭비 발생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정량적 관리 지표 부재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AI 도구 활용 효율 측정 불가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예산 통제 어려움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9804400"/>
            <a:ext cx="21564600" cy="3441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727200" y="10083800"/>
            <a:ext cx="210566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환경 민감 개발자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7200" y="10896600"/>
            <a:ext cx="210312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OS/환경별 명령 충돌로 반복 요청 발생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불필요한 토큰 낭비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재시도로 인한 시간 손실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환경 설정 복잡도 증가</a:t>
            </a:r>
          </a:p>
        </p:txBody>
      </p:sp>
      <p:pic>
        <p:nvPicPr>
          <p:cNvPr id="13" name="Picture 6">
            <a:extLst>
              <a:ext uri="{FF2B5EF4-FFF2-40B4-BE49-F238E27FC236}">
                <a16:creationId xmlns:a16="http://schemas.microsoft.com/office/drawing/2014/main" id="{FF0CBFB9-4EC6-EA01-EA8C-1096DB9F39A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" y="6337300"/>
            <a:ext cx="12915900" cy="59817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5400" y="2616200"/>
            <a:ext cx="12915900" cy="3327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4500" y="8699500"/>
            <a:ext cx="11911807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006600" y="3860800"/>
            <a:ext cx="11517035" cy="825500"/>
          </a:xfrm>
          <a:prstGeom prst="rect">
            <a:avLst/>
          </a:prstGeom>
        </p:spPr>
        <p:txBody>
          <a:bodyPr lIns="0" tIns="29633" rIns="0" bIns="29633" rtlCol="0" anchor="ctr"/>
          <a:lstStyle/>
          <a:p>
            <a:pPr lvl="0" algn="ctr">
              <a:lnSpc>
                <a:spcPct val="107899"/>
              </a:lnSpc>
            </a:pPr>
            <a:r>
              <a:rPr lang="en-US" sz="4666" b="0" i="0" u="none" strike="noStrike" spc="-10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AI 도입 가속화: 기업 생산성 관리의 핵심 지표로 부상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03400" y="7607300"/>
            <a:ext cx="11791659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 spc="-10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미국 기업의 AI 유료 구독 및 도입률 급성장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90700" y="9144000"/>
            <a:ext cx="11817405" cy="31750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'23년 초 10%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미만이었던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미국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내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기업의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AI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도구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유료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구독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도입률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'26년 3월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기준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50.4%로 5배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이상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급성장</a:t>
            </a: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>
              <a:lnSpc>
                <a:spcPct val="132800"/>
              </a:lnSpc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기업의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절반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이상이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AI를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실무에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도입함에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따라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성능을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넘어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'AI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예산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최적화'가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기업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생산성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관리의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핵심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지표로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부상</a:t>
            </a: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57300" y="6096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>
              <a:lnSpc>
                <a:spcPct val="99600"/>
              </a:lnSpc>
            </a:pP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통계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기반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인사이트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1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58337582-E1C3-0BD5-ED86-033931EA4C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23653" y="2598782"/>
            <a:ext cx="8973115" cy="104441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E1B8BC9-D05C-C5F2-5768-9513CB435736}"/>
              </a:ext>
            </a:extLst>
          </p:cNvPr>
          <p:cNvSpPr txBox="1"/>
          <p:nvPr/>
        </p:nvSpPr>
        <p:spPr>
          <a:xfrm>
            <a:off x="1677489" y="12374239"/>
            <a:ext cx="12533811" cy="427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32800"/>
              </a:lnSpc>
            </a:pPr>
            <a:r>
              <a:rPr lang="en-US" altLang="ko-KR" sz="18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altLang="ko-KR" sz="1800" b="0" i="0" u="none" strike="noStrike" spc="-100" dirty="0" err="1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출처</a:t>
            </a:r>
            <a:r>
              <a:rPr lang="en-US" altLang="ko-KR" sz="18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: Ramp AI Index - Model Adoption Rate, 2023-2026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1257300" y="15240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>
              <a:lnSpc>
                <a:spcPct val="99600"/>
              </a:lnSpc>
            </a:pP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통계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기반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인사이트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2</a:t>
            </a: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4470400"/>
            <a:ext cx="13982700" cy="35179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331425" y="6248400"/>
            <a:ext cx="34544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700" y="8699500"/>
            <a:ext cx="13982700" cy="35179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6350726" y="5143500"/>
            <a:ext cx="8559071" cy="20828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전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세계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AI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챗봇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시장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: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ChatGPT가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80.8%의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압도적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점유</a:t>
            </a:r>
            <a:endParaRPr lang="en-US" sz="3200" b="0" i="0" u="none" strike="noStrike" spc="-2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주류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모델의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점유율이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높으며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해당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모델들에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최적화된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프롬프트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컴파일러는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시장의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대다수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사용자에게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즉각적인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비용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절감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효과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제공</a:t>
            </a:r>
            <a:endParaRPr lang="en-US" sz="3200" b="0" i="0" u="none" strike="noStrike" spc="-2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651000" y="5511800"/>
            <a:ext cx="4114799" cy="1371600"/>
          </a:xfrm>
          <a:prstGeom prst="rect">
            <a:avLst/>
          </a:prstGeom>
        </p:spPr>
        <p:txBody>
          <a:bodyPr lIns="0" tIns="25400" rIns="0" bIns="25400" rtlCol="0" anchor="ctr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OpenAI </a:t>
            </a:r>
            <a:r>
              <a:rPr lang="en-US" sz="4000" b="0" i="0" u="none" strike="noStrike" spc="-20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ChatGPT의</a:t>
            </a:r>
            <a:r>
              <a:rPr lang="en-US" sz="4000" b="0" i="0" u="none" strike="noStrike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4000" b="0" i="0" u="none" strike="noStrike" spc="-20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압도적</a:t>
            </a:r>
            <a:r>
              <a:rPr lang="en-US" sz="4000" b="0" i="0" u="none" strike="noStrike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4000" b="0" i="0" u="none" strike="noStrike" spc="-20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시장</a:t>
            </a:r>
            <a:r>
              <a:rPr lang="en-US" sz="4000" b="0" i="0" u="none" strike="noStrike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4000" b="0" i="0" u="none" strike="noStrike" spc="-20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지배력</a:t>
            </a:r>
            <a:endParaRPr lang="en-US" sz="4000" b="0" i="0" u="none" strike="noStrike" spc="-200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" y="8699500"/>
            <a:ext cx="4661626" cy="35179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6324600" y="9671050"/>
            <a:ext cx="8953500" cy="1562100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lvl="0" algn="l">
              <a:lnSpc>
                <a:spcPct val="116199"/>
              </a:lnSpc>
            </a:pP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AI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챗봇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시장에서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주류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모델의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점유율이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높다는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것은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해당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모델들에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최적화된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솔루션이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광범위한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사용자층에게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직접적인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가치를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제공할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수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있음을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의미</a:t>
            </a:r>
            <a:endParaRPr lang="en-US" sz="2933" b="0" i="0" u="none" strike="noStrike" spc="-2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Tokit과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같은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프롬프트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컴파일러는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이러한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시장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구조를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활용하여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대다수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사용자에게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즉각적인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비용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절감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효과를</a:t>
            </a:r>
            <a:r>
              <a:rPr lang="en-US" sz="2933" b="0" i="0" u="none" strike="noStrike" spc="-2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933" b="0" i="0" u="none" strike="noStrike" spc="-2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제공</a:t>
            </a:r>
            <a:endParaRPr lang="en-US" sz="2933" b="0" i="0" u="none" strike="noStrike" spc="-2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651000" y="10096500"/>
            <a:ext cx="4394925" cy="711200"/>
          </a:xfrm>
          <a:prstGeom prst="rect">
            <a:avLst/>
          </a:prstGeom>
        </p:spPr>
        <p:txBody>
          <a:bodyPr lIns="0" tIns="25400" rIns="0" bIns="25400" rtlCol="0" anchor="ctr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 spc="-1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AI </a:t>
            </a:r>
            <a:r>
              <a:rPr lang="en-US" sz="4000" b="0" i="0" u="none" strike="noStrike" spc="-10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챗봇</a:t>
            </a:r>
            <a:r>
              <a:rPr lang="en-US" sz="4000" b="0" i="0" u="none" strike="noStrike" spc="-1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4000" b="0" i="0" u="none" strike="noStrike" spc="-10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시장</a:t>
            </a:r>
            <a:r>
              <a:rPr lang="en-US" sz="4000" b="0" i="0" u="none" strike="noStrike" spc="-1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4000" b="0" i="0" u="none" strike="noStrike" spc="-10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점유율</a:t>
            </a:r>
            <a:r>
              <a:rPr lang="en-US" sz="4000" b="0" i="0" u="none" strike="noStrike" spc="-1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4000" b="0" i="0" u="none" strike="noStrike" spc="-10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분석</a:t>
            </a:r>
            <a:endParaRPr lang="en-US" sz="4000" b="0" i="0" u="none" strike="noStrike" spc="-100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60AA56C-1E64-9843-D8A0-12CB804E1DCD}"/>
              </a:ext>
            </a:extLst>
          </p:cNvPr>
          <p:cNvSpPr txBox="1"/>
          <p:nvPr/>
        </p:nvSpPr>
        <p:spPr>
          <a:xfrm>
            <a:off x="1438004" y="8051800"/>
            <a:ext cx="13674985" cy="392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16199"/>
              </a:lnSpc>
            </a:pPr>
            <a:r>
              <a:rPr lang="en-US" altLang="ko-KR" sz="18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altLang="ko-KR" sz="18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출처</a:t>
            </a:r>
            <a:r>
              <a:rPr lang="en-US" altLang="ko-KR" sz="18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: </a:t>
            </a:r>
            <a:r>
              <a:rPr lang="en-US" altLang="ko-KR" sz="18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StatCounter</a:t>
            </a:r>
            <a:r>
              <a:rPr lang="en-US" altLang="ko-KR" sz="18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Global Stats - AI Chatbot Market Share (Mar 2025 - Mar 2026)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6A4AFA6-583B-CB5B-3305-94B6C2B5EA1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633699" y="4470400"/>
            <a:ext cx="8064495" cy="7747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724" y="6337300"/>
            <a:ext cx="12627876" cy="60071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724" y="2616200"/>
            <a:ext cx="12627876" cy="3327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2800" y="8115300"/>
            <a:ext cx="9299877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6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905000" y="3968750"/>
            <a:ext cx="11999226" cy="825500"/>
          </a:xfrm>
          <a:prstGeom prst="rect">
            <a:avLst/>
          </a:prstGeom>
        </p:spPr>
        <p:txBody>
          <a:bodyPr lIns="0" tIns="29633" rIns="0" bIns="29633" rtlCol="0" anchor="ctr"/>
          <a:lstStyle/>
          <a:p>
            <a:pPr lvl="0" algn="ctr">
              <a:lnSpc>
                <a:spcPct val="107899"/>
              </a:lnSpc>
            </a:pPr>
            <a:r>
              <a:rPr lang="en-US" sz="4666" b="0" i="0" u="none" strike="noStrike" spc="-100" dirty="0" err="1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한국어</a:t>
            </a:r>
            <a:r>
              <a:rPr lang="en-US" sz="4666" b="0" i="0" u="none" strike="noStrike" spc="-10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4666" b="0" i="0" u="none" strike="noStrike" spc="-100" dirty="0" err="1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토큰</a:t>
            </a:r>
            <a:r>
              <a:rPr lang="en-US" sz="4666" b="0" i="0" u="none" strike="noStrike" spc="-10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4666" b="0" i="0" u="none" strike="noStrike" spc="-100" dirty="0" err="1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비용</a:t>
            </a:r>
            <a:r>
              <a:rPr lang="en-US" sz="4666" b="0" i="0" u="none" strike="noStrike" spc="-10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4666" b="0" i="0" u="none" strike="noStrike" spc="-100" dirty="0" err="1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불균형</a:t>
            </a:r>
            <a:r>
              <a:rPr lang="en-US" sz="4666" b="0" i="0" u="none" strike="noStrike" spc="-10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: </a:t>
            </a:r>
            <a:r>
              <a:rPr lang="en-US" sz="4666" b="0" i="0" u="none" strike="noStrike" spc="-100" dirty="0" err="1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교착어의</a:t>
            </a:r>
            <a:r>
              <a:rPr lang="en-US" sz="4666" b="0" i="0" u="none" strike="noStrike" spc="-10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4666" b="0" i="0" u="none" strike="noStrike" spc="-100" dirty="0" err="1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토크나이징</a:t>
            </a:r>
            <a:r>
              <a:rPr lang="en-US" sz="4666" b="0" i="0" u="none" strike="noStrike" spc="-100" dirty="0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 </a:t>
            </a:r>
            <a:r>
              <a:rPr lang="en-US" sz="4666" b="0" i="0" u="none" strike="noStrike" spc="-100" dirty="0" err="1">
                <a:solidFill>
                  <a:srgbClr val="FFFFFF"/>
                </a:solidFill>
                <a:latin typeface="Pretendard ExtraBold"/>
                <a:ea typeface="Pretendard ExtraBold"/>
                <a:cs typeface="Pretendard ExtraBold"/>
              </a:rPr>
              <a:t>비효율성</a:t>
            </a:r>
            <a:endParaRPr lang="en-US" sz="4666" b="0" i="0" u="none" strike="noStrike" spc="-100" dirty="0">
              <a:solidFill>
                <a:srgbClr val="FFFFFF"/>
              </a:solidFill>
              <a:latin typeface="Pretendard ExtraBold"/>
              <a:ea typeface="Pretendard ExtraBold"/>
              <a:cs typeface="Pretendard Extra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3344091" y="7010400"/>
            <a:ext cx="9206074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 spc="-100" dirty="0" err="1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한국어가</a:t>
            </a:r>
            <a:r>
              <a:rPr lang="en-US" sz="4000" b="0" i="0" u="none" strike="noStrike" spc="-100" dirty="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4000" b="0" i="0" u="none" strike="noStrike" spc="-100" dirty="0" err="1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영어보다</a:t>
            </a:r>
            <a:r>
              <a:rPr lang="en-US" sz="4000" b="0" i="0" u="none" strike="noStrike" spc="-100" dirty="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 2~3배 </a:t>
            </a:r>
            <a:r>
              <a:rPr lang="en-US" sz="4000" b="0" i="0" u="none" strike="noStrike" spc="-100" dirty="0" err="1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많은</a:t>
            </a:r>
            <a:r>
              <a:rPr lang="en-US" sz="4000" b="0" i="0" u="none" strike="noStrike" spc="-100" dirty="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4000" b="0" i="0" u="none" strike="noStrike" spc="-100" dirty="0" err="1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토큰</a:t>
            </a:r>
            <a:r>
              <a:rPr lang="en-US" sz="4000" b="0" i="0" u="none" strike="noStrike" spc="-100" dirty="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4000" b="0" i="0" u="none" strike="noStrike" spc="-100" dirty="0" err="1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소모</a:t>
            </a:r>
            <a:endParaRPr lang="en-US" sz="4000" b="0" i="0" u="none" strike="noStrike" spc="-100" dirty="0">
              <a:solidFill>
                <a:srgbClr val="EF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474706" y="8843191"/>
            <a:ext cx="11056063" cy="2514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한국어와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같은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교착어는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토크나이저가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의미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단위로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쪼개는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과정에서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영어에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비해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훨씬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많은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ID를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생성하게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되어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비용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불균형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발생</a:t>
            </a: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>
              <a:lnSpc>
                <a:spcPct val="132800"/>
              </a:lnSpc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동일한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의미를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전달할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때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한국어가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영어보다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2~3배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많은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토큰을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소모하여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비용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불균형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발생</a:t>
            </a: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57300" y="6096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>
              <a:lnSpc>
                <a:spcPct val="99600"/>
              </a:lnSpc>
            </a:pP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통계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기반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인사이트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13A0B8-AFC6-11DB-AC3C-997AD98BA7DD}"/>
              </a:ext>
            </a:extLst>
          </p:cNvPr>
          <p:cNvSpPr txBox="1"/>
          <p:nvPr/>
        </p:nvSpPr>
        <p:spPr>
          <a:xfrm>
            <a:off x="1676400" y="12344401"/>
            <a:ext cx="10083800" cy="427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32800"/>
              </a:lnSpc>
            </a:pPr>
            <a:r>
              <a:rPr lang="en-US" altLang="ko-KR" sz="18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altLang="ko-KR" sz="1800" b="0" i="0" u="none" strike="noStrike" spc="-100" dirty="0" err="1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출처</a:t>
            </a:r>
            <a:r>
              <a:rPr lang="en-US" altLang="ko-KR" sz="1800" b="0" i="0" u="none" strike="noStrike" spc="-100" dirty="0">
                <a:solidFill>
                  <a:schemeClr val="bg1"/>
                </a:solidFill>
                <a:latin typeface="Pretendard Regular"/>
                <a:ea typeface="Pretendard Regular"/>
                <a:cs typeface="Pretendard Regular"/>
              </a:rPr>
              <a:t>: Petrov, A., et al. (2023). Language Model Tokenizers Introduce Unfairness Between Languages</a:t>
            </a: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CA035330-118C-683D-6230-23A8D50F0F4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157331" y="2616200"/>
            <a:ext cx="7955943" cy="981601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4838700"/>
            <a:ext cx="11328400" cy="635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778000" y="6032500"/>
            <a:ext cx="11468100" cy="825500"/>
          </a:xfrm>
          <a:prstGeom prst="rect">
            <a:avLst/>
          </a:prstGeom>
        </p:spPr>
        <p:txBody>
          <a:bodyPr lIns="0" tIns="0" rIns="0" bIns="29633" rtlCol="0" anchor="b"/>
          <a:lstStyle/>
          <a:p>
            <a:pPr lvl="0" algn="l">
              <a:lnSpc>
                <a:spcPct val="107899"/>
              </a:lnSpc>
            </a:pPr>
            <a:r>
              <a:rPr lang="en-US" sz="4666" b="0" i="0" u="none" strike="noStrike" spc="-1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Lost in the Middle 현상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778000" y="7289800"/>
            <a:ext cx="11417300" cy="35433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32800"/>
              </a:lnSpc>
            </a:pPr>
            <a:r>
              <a:rPr lang="en-US" altLang="ko-KR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</a:t>
            </a:r>
            <a:r>
              <a:rPr lang="ko-KR" alt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LLM은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입력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데이터가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길어질수록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컨텍스트의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중간에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위치한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정보를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활용하는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능력이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급격히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떨어지는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'Lost in the Middle'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현상이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발생</a:t>
            </a:r>
            <a:endParaRPr lang="en-US" sz="3200" b="0" i="0" u="none" strike="noStrike" spc="-1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32800"/>
              </a:lnSpc>
            </a:pPr>
            <a:r>
              <a:rPr lang="en-US" altLang="ko-KR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</a:t>
            </a:r>
            <a:r>
              <a:rPr lang="ko-KR" alt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무분별하게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전체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로그나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대화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이력을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넣는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것은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비용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낭비일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뿐만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아니라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모델의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추론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정확도를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떨어뜨리는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주요</a:t>
            </a:r>
            <a:r>
              <a:rPr 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원</a:t>
            </a:r>
            <a:r>
              <a:rPr lang="ko-KR" altLang="en-US" sz="32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인</a:t>
            </a:r>
            <a:endParaRPr lang="en-US" sz="3200" b="0" i="0" u="none" strike="noStrike" spc="-1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52600" y="2882900"/>
            <a:ext cx="11633200" cy="1422400"/>
          </a:xfrm>
          <a:prstGeom prst="rect">
            <a:avLst/>
          </a:prstGeom>
        </p:spPr>
        <p:txBody>
          <a:bodyPr lIns="0" tIns="0" rIns="0" bIns="101600" rtlCol="0" anchor="b"/>
          <a:lstStyle/>
          <a:p>
            <a:pPr lvl="0" algn="l">
              <a:lnSpc>
                <a:spcPct val="99600"/>
              </a:lnSpc>
            </a:pPr>
            <a:r>
              <a:rPr lang="en-US" sz="8000" b="0" i="0" u="none" strike="noStrike" spc="-1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통계 기반 인사이트 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774D27-D285-0443-4111-D5C7406FFE84}"/>
              </a:ext>
            </a:extLst>
          </p:cNvPr>
          <p:cNvSpPr txBox="1"/>
          <p:nvPr/>
        </p:nvSpPr>
        <p:spPr>
          <a:xfrm>
            <a:off x="1467576" y="10833101"/>
            <a:ext cx="10724424" cy="4273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l">
              <a:lnSpc>
                <a:spcPct val="132800"/>
              </a:lnSpc>
            </a:pPr>
            <a:r>
              <a:rPr lang="en-US" altLang="ko-KR" sz="1800" b="0" i="0" u="none" strike="noStrike" spc="-1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출처</a:t>
            </a:r>
            <a:r>
              <a:rPr lang="en-US" altLang="ko-KR" sz="1800" b="0" i="0" u="none" strike="noStrike" spc="-1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: Nelson F. Liu, et al. (2024). Lost in the Middle: How Language Models Use Long Contexts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7E7CB42-8A06-7B84-C783-DC9A172311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05410" y="4838700"/>
            <a:ext cx="10173790" cy="68199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09700" y="609600"/>
            <a:ext cx="218694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 algn="l">
              <a:lnSpc>
                <a:spcPct val="99600"/>
              </a:lnSpc>
            </a:pPr>
            <a:r>
              <a:rPr lang="en-US" sz="8000" b="0" i="0" u="none" strike="noStrike" spc="-1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프로젝트 정량적 목표 (1)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235200"/>
            <a:ext cx="21564600" cy="3441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27200" y="2514600"/>
            <a:ext cx="210566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핵심 기능 구현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7200" y="3327400"/>
            <a:ext cx="210312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정의된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MVP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기능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3개 중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구현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완료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비율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100%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달성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Prompt Compiler, Basic CLI Wrapper + LLM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실행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, Output Compression + Simple State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모두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완성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측정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방법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: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정의된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MVP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기능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3개 중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구현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완료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비율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6019800"/>
            <a:ext cx="21564600" cy="3441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727200" y="6299200"/>
            <a:ext cx="210566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입력 토큰 수 감소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7200" y="7112000"/>
            <a:ext cx="210312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동일 요청 기준 원본 입력 대비 20~40% 감소 목표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한국어를 영어로 컴파일하여 토큰 효율성 극대화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불필요한 컨텍스트 제거 및 구조적 재구성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측정 방법: 원본 입력 vs 컴파일된 입력 토큰 수 비교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9804400"/>
            <a:ext cx="21564600" cy="3441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727200" y="10083800"/>
            <a:ext cx="210566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출력 토큰 수 감소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7200" y="10896600"/>
            <a:ext cx="210312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동일 요청 기준 원본 출력 대비 20~50% 감소 목표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핵심 정보만 남기고 다음 단계에 필요한 상태로 압축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과도한 설명 제거 및 출력 형식 제어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측정 방법: 원본 출력 vs 압축 출력 토큰 수 비교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0B8EC88A-6921-5276-0016-B8E0BA8B29DA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8216900"/>
            <a:ext cx="10350500" cy="4508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12725400"/>
            <a:ext cx="103505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57300" y="6096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>
              <a:lnSpc>
                <a:spcPct val="99600"/>
              </a:lnSpc>
            </a:pP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프로젝트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정량적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목표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(2)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800" y="8216900"/>
            <a:ext cx="10350500" cy="4508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3800" y="12725400"/>
            <a:ext cx="10350500" cy="317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10134600"/>
            <a:ext cx="91821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159000" y="91694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세션 유지 성공률 향상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71700" y="10553700"/>
            <a:ext cx="9309100" cy="1219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재설명 없이 다음 작업 수행 성공 비율 90% 이상</a:t>
            </a:r>
          </a:p>
          <a:p>
            <a:pPr lvl="0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측정: 세션 상태 관리 성공 비율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8000" y="10134600"/>
            <a:ext cx="9182100" cy="50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3131800" y="91694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오류 발생률 감소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44500" y="10553700"/>
            <a:ext cx="9309100" cy="1219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테스트 케이스 실행 중 실패 비율 5% 이하</a:t>
            </a:r>
          </a:p>
          <a:p>
            <a:pPr lvl="0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측정: 전체 테스트 중 오류 발생 비율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2832100"/>
            <a:ext cx="10350500" cy="4508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63700" y="7327900"/>
            <a:ext cx="10350500" cy="317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800" y="2832100"/>
            <a:ext cx="10350500" cy="4508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623800" y="7327900"/>
            <a:ext cx="10350500" cy="317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4749800"/>
            <a:ext cx="9182100" cy="508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159000" y="37846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총 토큰 사용량 감소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71700" y="5168900"/>
            <a:ext cx="9309100" cy="1219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입력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+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출력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합산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토큰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25~50%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감소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측정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입력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+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출력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합산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토큰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비교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8000" y="4749800"/>
            <a:ext cx="9182100" cy="508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3131800" y="37846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반복 입력 횟수 감소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44500" y="5168900"/>
            <a:ext cx="9309100" cy="12192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평균 2~3회에서 1회 이하로 감소</a:t>
            </a:r>
          </a:p>
          <a:p>
            <a:pPr lvl="0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측정: 동일 작업 수행 시 추가 설명 입력 횟수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7708900"/>
            <a:ext cx="9969500" cy="4330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2844800"/>
            <a:ext cx="9969500" cy="4330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8200" y="4546600"/>
            <a:ext cx="8940800" cy="50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108200" y="3759200"/>
            <a:ext cx="91059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비용 절감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108200" y="4787900"/>
            <a:ext cx="90424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영어로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컴파일해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입력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비용을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50%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이상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절감</a:t>
            </a: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한국어보다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토큰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효율이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2.5배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이상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우수</a:t>
            </a: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저비용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최적화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모델로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전처리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후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메인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모델에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전달</a:t>
            </a: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09700" y="609600"/>
            <a:ext cx="218694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 algn="l">
              <a:lnSpc>
                <a:spcPct val="99600"/>
              </a:lnSpc>
            </a:pPr>
            <a:r>
              <a:rPr lang="en-US" sz="8000" b="0" i="0" u="none" strike="noStrike" spc="-1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기대 효과 - 사용자 관점 (1)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8200" y="9220200"/>
            <a:ext cx="8940800" cy="5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108200" y="8445500"/>
            <a:ext cx="91059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예산 낭비 방지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08200" y="9474200"/>
            <a:ext cx="90424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중복 컨텍스트 제거 및 세션 관리로 반복 전송 차단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매번 전체 맥락 재전달 문제를 세션 상태로 해결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정해진 크레딧으로 작업 효율 극대화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D7378A51-BBAD-115B-73DB-6504A99853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14300" y="7708900"/>
            <a:ext cx="9969500" cy="4330700"/>
          </a:xfrm>
          <a:prstGeom prst="rect">
            <a:avLst/>
          </a:prstGeom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65A25225-DAAC-CF32-AC44-5EE994BB2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4300" y="2844800"/>
            <a:ext cx="9969500" cy="4330700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4DCF254B-CBF4-FC53-FEB5-AD2199E91C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2300" y="4546600"/>
            <a:ext cx="8940800" cy="50800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36BE56AF-41BC-09FE-AEDA-71AA9A233019}"/>
              </a:ext>
            </a:extLst>
          </p:cNvPr>
          <p:cNvSpPr txBox="1"/>
          <p:nvPr/>
        </p:nvSpPr>
        <p:spPr>
          <a:xfrm>
            <a:off x="13322300" y="3759200"/>
            <a:ext cx="91059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>
              <a:lnSpc>
                <a:spcPct val="107899"/>
              </a:lnSpc>
            </a:pPr>
            <a:r>
              <a:rPr lang="en-US" altLang="ko-KR" sz="36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응답</a:t>
            </a:r>
            <a:r>
              <a:rPr lang="en-US" altLang="ko-KR" sz="36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36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속도</a:t>
            </a:r>
            <a:r>
              <a:rPr lang="en-US" altLang="ko-KR" sz="36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36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및</a:t>
            </a:r>
            <a:r>
              <a:rPr lang="en-US" altLang="ko-KR" sz="36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36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연산</a:t>
            </a:r>
            <a:r>
              <a:rPr lang="en-US" altLang="ko-KR" sz="36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36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부하</a:t>
            </a:r>
            <a:r>
              <a:rPr lang="en-US" altLang="ko-KR" sz="36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36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감소</a:t>
            </a:r>
            <a:endParaRPr lang="en-US" altLang="ko-KR" sz="3600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4AC2D132-D80C-477E-C057-42FB0841E89D}"/>
              </a:ext>
            </a:extLst>
          </p:cNvPr>
          <p:cNvSpPr txBox="1"/>
          <p:nvPr/>
        </p:nvSpPr>
        <p:spPr>
          <a:xfrm>
            <a:off x="13322300" y="4787900"/>
            <a:ext cx="94615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altLang="ko-KR" sz="30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ko-KR" altLang="en-US" sz="30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지저분한 툴 출력</a:t>
            </a:r>
            <a:r>
              <a:rPr lang="en-US" altLang="ko-KR" sz="30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(</a:t>
            </a:r>
            <a:r>
              <a:rPr lang="ko-KR" altLang="en-US" sz="30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로그</a:t>
            </a:r>
            <a:r>
              <a:rPr lang="en-US" altLang="ko-KR" sz="30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, </a:t>
            </a:r>
            <a:r>
              <a:rPr lang="en-US" sz="30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HTML </a:t>
            </a:r>
            <a:r>
              <a:rPr lang="ko-KR" altLang="en-US" sz="30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등</a:t>
            </a:r>
            <a:r>
              <a:rPr lang="en-US" altLang="ko-KR" sz="30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)</a:t>
            </a:r>
            <a:r>
              <a:rPr lang="ko-KR" altLang="en-US" sz="30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에서 핵심 정보만 정제</a:t>
            </a:r>
          </a:p>
          <a:p>
            <a:pPr lvl="0" algn="l">
              <a:lnSpc>
                <a:spcPct val="116199"/>
              </a:lnSpc>
            </a:pPr>
            <a:r>
              <a:rPr lang="en-US" altLang="ko-KR" sz="30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ko-KR" altLang="en-US" sz="30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연산 부하가 줄어들고 응답 지연 시간이 단축됨</a:t>
            </a:r>
          </a:p>
          <a:p>
            <a:pPr lvl="0" algn="l">
              <a:lnSpc>
                <a:spcPct val="116199"/>
              </a:lnSpc>
            </a:pPr>
            <a:r>
              <a:rPr lang="en-US" altLang="ko-KR" sz="30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ko-KR" altLang="en-US" sz="30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긴 컨텍스트로 인한 처리 시간 증가 문제를 원천적으로 해결</a:t>
            </a:r>
          </a:p>
        </p:txBody>
      </p:sp>
      <p:pic>
        <p:nvPicPr>
          <p:cNvPr id="17" name="Picture 10">
            <a:extLst>
              <a:ext uri="{FF2B5EF4-FFF2-40B4-BE49-F238E27FC236}">
                <a16:creationId xmlns:a16="http://schemas.microsoft.com/office/drawing/2014/main" id="{D17FF543-7B26-70E1-7CD3-A14B7ADADC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22300" y="9067800"/>
            <a:ext cx="8940800" cy="50800"/>
          </a:xfrm>
          <a:prstGeom prst="rect">
            <a:avLst/>
          </a:prstGeom>
        </p:spPr>
      </p:pic>
      <p:sp>
        <p:nvSpPr>
          <p:cNvPr id="18" name="TextBox 11">
            <a:extLst>
              <a:ext uri="{FF2B5EF4-FFF2-40B4-BE49-F238E27FC236}">
                <a16:creationId xmlns:a16="http://schemas.microsoft.com/office/drawing/2014/main" id="{2EE7AEC0-3C04-D3D5-9CA5-E565FD3A4723}"/>
              </a:ext>
            </a:extLst>
          </p:cNvPr>
          <p:cNvSpPr txBox="1"/>
          <p:nvPr/>
        </p:nvSpPr>
        <p:spPr>
          <a:xfrm>
            <a:off x="13322300" y="8293100"/>
            <a:ext cx="91059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>
              <a:lnSpc>
                <a:spcPct val="107899"/>
              </a:lnSpc>
            </a:pPr>
            <a:r>
              <a:rPr lang="en-US" altLang="ko-KR" sz="36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생산성</a:t>
            </a:r>
            <a:r>
              <a:rPr lang="en-US" altLang="ko-KR" sz="36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36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극대화</a:t>
            </a:r>
            <a:endParaRPr lang="en-US" altLang="ko-KR" sz="3600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01D0AAF2-0A59-D0A8-150B-A36CA695A436}"/>
              </a:ext>
            </a:extLst>
          </p:cNvPr>
          <p:cNvSpPr txBox="1"/>
          <p:nvPr/>
        </p:nvSpPr>
        <p:spPr>
          <a:xfrm>
            <a:off x="13322300" y="9321800"/>
            <a:ext cx="94615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기존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CLI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환경과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동일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UX에서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개발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로직에만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몰입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가능</a:t>
            </a:r>
            <a:endParaRPr lang="en-US" altLang="ko-KR" sz="30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프롬프</a:t>
            </a:r>
            <a:r>
              <a:rPr lang="ko-KR" altLang="en-US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팅에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시간을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쓰지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않고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개발에만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집중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ko-KR" altLang="en-US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가능</a:t>
            </a:r>
            <a:endParaRPr lang="en-US" altLang="ko-KR" sz="30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비용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걱정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없이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개발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작업을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이어갈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있는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심리적</a:t>
            </a:r>
            <a:r>
              <a:rPr lang="en-US" altLang="ko-KR" sz="30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30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안정감</a:t>
            </a:r>
            <a:endParaRPr lang="en-US" altLang="ko-KR" sz="30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0" name="Picture 2">
            <a:extLst>
              <a:ext uri="{FF2B5EF4-FFF2-40B4-BE49-F238E27FC236}">
                <a16:creationId xmlns:a16="http://schemas.microsoft.com/office/drawing/2014/main" id="{FA0B43BF-0F6A-A8B7-3354-885C398DBECE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7708900"/>
            <a:ext cx="20675600" cy="4330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844800"/>
            <a:ext cx="20675600" cy="4330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00" y="4432300"/>
            <a:ext cx="8940800" cy="50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2108200" y="3644900"/>
            <a:ext cx="91059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답변</a:t>
            </a:r>
            <a:r>
              <a:rPr lang="en-US" sz="3600" b="0" i="0" u="none" strike="noStrike" spc="-1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600" b="0" i="0" u="none" strike="noStrike" spc="-1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품질</a:t>
            </a:r>
            <a:r>
              <a:rPr lang="en-US" sz="3600" b="0" i="0" u="none" strike="noStrike" spc="-1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600" b="0" i="0" u="none" strike="noStrike" spc="-1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유지</a:t>
            </a:r>
            <a:r>
              <a:rPr lang="en-US" sz="3600" b="0" i="0" u="none" strike="noStrike" spc="-1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600" b="0" i="0" u="none" strike="noStrike" spc="-1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및</a:t>
            </a:r>
            <a:r>
              <a:rPr lang="en-US" sz="3600" b="0" i="0" u="none" strike="noStrike" spc="-1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600" b="0" i="0" u="none" strike="noStrike" spc="-1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신뢰도</a:t>
            </a:r>
            <a:r>
              <a:rPr lang="en-US" sz="3600" b="0" i="0" u="none" strike="noStrike" spc="-1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sz="3600" b="0" i="0" u="none" strike="noStrike" spc="-1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향상</a:t>
            </a:r>
            <a:endParaRPr lang="en-US" sz="3600" b="0" i="0" u="none" strike="noStrike" spc="-100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2108200" y="4673600"/>
            <a:ext cx="90424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긴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컨텍스트의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'Lost in the Middle'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현상을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방어</a:t>
            </a: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길어지는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입력에서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중간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정보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활용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저하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문제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해결</a:t>
            </a: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정보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밀도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최적화로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모델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추론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정확도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유지</a:t>
            </a: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09700" y="609600"/>
            <a:ext cx="218694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 algn="l">
              <a:lnSpc>
                <a:spcPct val="99600"/>
              </a:lnSpc>
            </a:pP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기대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효과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-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사용자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관점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(</a:t>
            </a:r>
            <a:r>
              <a:rPr lang="en-US" altLang="ko-KR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2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)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200" y="9220200"/>
            <a:ext cx="8940800" cy="5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108200" y="8445500"/>
            <a:ext cx="91059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환경 기반 에러 방지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108200" y="9474200"/>
            <a:ext cx="125984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OS/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환경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정보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자동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주입으로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명령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충돌·재시도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토큰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낭비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차단</a:t>
            </a: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Mac·Ubuntu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등에서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일관된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성능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유지</a:t>
            </a: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에이전트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권한·명령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충돌로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인한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반복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요청</a:t>
            </a:r>
            <a:r>
              <a:rPr lang="en-US" sz="32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방지</a:t>
            </a:r>
            <a:endParaRPr lang="en-US" sz="32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28D4DA7-DCA4-8305-DC26-91E615AB086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09700" y="609600"/>
            <a:ext cx="218694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 algn="l">
              <a:lnSpc>
                <a:spcPct val="99600"/>
              </a:lnSpc>
            </a:pPr>
            <a:r>
              <a:rPr lang="en-US" sz="8000" b="0" i="0" u="none" strike="noStrike" spc="-1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기대 효과 - 기술·학습 관점 (1)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235200"/>
            <a:ext cx="21564600" cy="3441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27200" y="2514600"/>
            <a:ext cx="210566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L7 오케스트레이션 아키텍처 설계 역량 확보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7200" y="3327400"/>
            <a:ext cx="210312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단순한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API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연동을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넘어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모델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앞단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(Pre-processing)과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뒷단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(Post-processing)을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제어하는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고급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아키텍처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설계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기술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확보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전체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워크플로우를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아우르는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오케스트레이션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시스템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구축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역량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배양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L7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레벨의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지능형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제어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레이어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설계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경험을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통한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기술적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성장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6019800"/>
            <a:ext cx="21564600" cy="3441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727200" y="6299200"/>
            <a:ext cx="210566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프롬프트 컴파일러 레이어 설계 기술 습득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7200" y="7112000"/>
            <a:ext cx="210312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사용자 입력을 최적화된 프롬프트로 변환하는 컴파일러 레이어 구현 능력 습득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한국어를 영어로 컴파일하여 토큰 효율을 극대화하는 실전 기술 체득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입력과 출력을 동적으로 재구성하는 인텔리전트 시스템 설계 경험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9804400"/>
            <a:ext cx="21564600" cy="3441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727200" y="10083800"/>
            <a:ext cx="210566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DAG 엔진 구현 경험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7200" y="10896600"/>
            <a:ext cx="21031200" cy="1498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복잡한 사용자 의도를 작업 그래프(Task Graph)로 분해하고 실행 순서를 조율하는 DAG(방향 비순환 그래프) 엔진 구현 경험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테스크 간 의존성을 관리하고 최적의 실행 순서를 결정하는 알고리즘 설계 역량 확보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병렬 처리와 순차 처리를 조합한 효율적인 워크플로우 엔진 구축 기술 습득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A1158DC5-F339-0789-565B-C687DE5CABFC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7708900"/>
            <a:ext cx="10439400" cy="4330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44800"/>
            <a:ext cx="10439400" cy="43307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9600" y="4546600"/>
            <a:ext cx="8940800" cy="50800"/>
          </a:xfrm>
          <a:prstGeom prst="rect">
            <a:avLst/>
          </a:prstGeom>
        </p:spPr>
      </p:pic>
      <p:sp>
        <p:nvSpPr>
          <p:cNvPr id="7" name="TextBox 7"/>
          <p:cNvSpPr txBox="1"/>
          <p:nvPr/>
        </p:nvSpPr>
        <p:spPr>
          <a:xfrm>
            <a:off x="1879600" y="3759200"/>
            <a:ext cx="91059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고도화된 상태 관리 기법 체득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79600" y="4787900"/>
            <a:ext cx="9550400" cy="237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16199"/>
              </a:lnSpc>
            </a:pP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Shared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Context와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Task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Context로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세션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맥락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분리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설계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능력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배양</a:t>
            </a:r>
            <a:endParaRPr lang="en-US" sz="28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>
              <a:lnSpc>
                <a:spcPct val="116199"/>
              </a:lnSpc>
            </a:pP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단계별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산출물을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유효한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상태로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압축·전달하는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파이프라인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구축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경험</a:t>
            </a:r>
            <a:endParaRPr lang="en-US" sz="28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  <a:p>
            <a:pPr lvl="0">
              <a:lnSpc>
                <a:spcPct val="116199"/>
              </a:lnSpc>
            </a:pP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동적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상태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관리로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세션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성능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저하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해결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기술</a:t>
            </a:r>
            <a:r>
              <a:rPr lang="en-US" sz="2800" b="0" i="0" u="none" strike="noStrike" spc="-100" dirty="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2800" b="0" i="0" u="none" strike="noStrike" spc="-100" dirty="0" err="1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확보</a:t>
            </a:r>
            <a:endParaRPr lang="en-US" sz="2800" b="0" i="0" u="none" strike="noStrike" spc="-100" dirty="0">
              <a:solidFill>
                <a:srgbClr val="000000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09700" y="609600"/>
            <a:ext cx="218694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 algn="l">
              <a:lnSpc>
                <a:spcPct val="99600"/>
              </a:lnSpc>
            </a:pPr>
            <a:r>
              <a:rPr lang="en-US" sz="8000" b="0" i="0" u="none" strike="noStrike" spc="-1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기대 효과 - 기술·학습 관점 (2)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9600" y="9398000"/>
            <a:ext cx="8940800" cy="50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879600" y="8623300"/>
            <a:ext cx="91059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런타임 데이터 검증 및 상태 리듀서 설계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79600" y="9652000"/>
            <a:ext cx="9550400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Zod 등으로 런타임 데이터 검증 기술 습득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불변성 유지 리듀서 설계로 견고한 아키텍처 경험</a:t>
            </a:r>
          </a:p>
          <a:p>
            <a:pPr lvl="0" algn="l">
              <a:lnSpc>
                <a:spcPct val="116199"/>
              </a:lnSpc>
            </a:pPr>
            <a:r>
              <a:rPr lang="en-US" sz="2800" b="0" i="0" u="none" strike="noStrike" spc="-100">
                <a:solidFill>
                  <a:srgbClr val="000000"/>
                </a:solidFill>
                <a:latin typeface="Pretendard Regular"/>
                <a:ea typeface="Pretendard Regular"/>
                <a:cs typeface="Pretendard Regular"/>
              </a:rPr>
              <a:t>- TaskGraph·SessionState 같은 복잡 스키마 검증·관리 역량 확보</a:t>
            </a:r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9A186F30-6E64-C0B9-B7B3-0478C2BD6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9883" y="7696200"/>
            <a:ext cx="10439400" cy="4330700"/>
          </a:xfrm>
          <a:prstGeom prst="rect">
            <a:avLst/>
          </a:prstGeom>
        </p:spPr>
      </p:pic>
      <p:pic>
        <p:nvPicPr>
          <p:cNvPr id="13" name="Picture 5">
            <a:extLst>
              <a:ext uri="{FF2B5EF4-FFF2-40B4-BE49-F238E27FC236}">
                <a16:creationId xmlns:a16="http://schemas.microsoft.com/office/drawing/2014/main" id="{799B1C2D-1960-8CCF-3ABE-802C90D29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9883" y="2832100"/>
            <a:ext cx="10439400" cy="4330700"/>
          </a:xfrm>
          <a:prstGeom prst="rect">
            <a:avLst/>
          </a:prstGeom>
        </p:spPr>
      </p:pic>
      <p:pic>
        <p:nvPicPr>
          <p:cNvPr id="14" name="Picture 6">
            <a:extLst>
              <a:ext uri="{FF2B5EF4-FFF2-40B4-BE49-F238E27FC236}">
                <a16:creationId xmlns:a16="http://schemas.microsoft.com/office/drawing/2014/main" id="{341B283B-3C00-7C45-8C30-AAF41DFDF1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7883" y="4533900"/>
            <a:ext cx="8940800" cy="50800"/>
          </a:xfrm>
          <a:prstGeom prst="rect">
            <a:avLst/>
          </a:prstGeom>
        </p:spPr>
      </p:pic>
      <p:sp>
        <p:nvSpPr>
          <p:cNvPr id="15" name="TextBox 7">
            <a:extLst>
              <a:ext uri="{FF2B5EF4-FFF2-40B4-BE49-F238E27FC236}">
                <a16:creationId xmlns:a16="http://schemas.microsoft.com/office/drawing/2014/main" id="{1E843526-4977-969F-766D-4FA09EEBE9D6}"/>
              </a:ext>
            </a:extLst>
          </p:cNvPr>
          <p:cNvSpPr txBox="1"/>
          <p:nvPr/>
        </p:nvSpPr>
        <p:spPr>
          <a:xfrm>
            <a:off x="13177883" y="3746500"/>
            <a:ext cx="91059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>
              <a:lnSpc>
                <a:spcPct val="107899"/>
              </a:lnSpc>
            </a:pPr>
            <a:r>
              <a:rPr lang="en-US" altLang="ko-KR" sz="36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NLP </a:t>
            </a:r>
            <a:r>
              <a:rPr lang="en-US" altLang="ko-KR" sz="36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최적화</a:t>
            </a:r>
            <a:r>
              <a:rPr lang="en-US" altLang="ko-KR" sz="36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36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이론의</a:t>
            </a:r>
            <a:r>
              <a:rPr lang="en-US" altLang="ko-KR" sz="36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36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실전</a:t>
            </a:r>
            <a:r>
              <a:rPr lang="en-US" altLang="ko-KR" sz="36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36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적용</a:t>
            </a:r>
            <a:endParaRPr lang="en-US" altLang="ko-KR" sz="3600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43303DCF-498D-D857-41BE-6C0BD8106FA6}"/>
              </a:ext>
            </a:extLst>
          </p:cNvPr>
          <p:cNvSpPr txBox="1"/>
          <p:nvPr/>
        </p:nvSpPr>
        <p:spPr>
          <a:xfrm>
            <a:off x="13177883" y="4775200"/>
            <a:ext cx="9550400" cy="2374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457200" lvl="0" indent="-457200">
              <a:lnSpc>
                <a:spcPct val="132800"/>
              </a:lnSpc>
              <a:buFontTx/>
              <a:buChar char="-"/>
            </a:pP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언어별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토크나이징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알고리즘의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차이와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모델의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컨텍스트</a:t>
            </a:r>
            <a:endParaRPr lang="en-US" altLang="ko-KR" sz="28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밀도에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따른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성능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변화를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실제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지표로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검증</a:t>
            </a:r>
            <a:endParaRPr lang="en-US" altLang="ko-KR" sz="28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한국어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영어의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토큰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효율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차이를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정량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분석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&amp;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최적화</a:t>
            </a:r>
            <a:endParaRPr lang="en-US" altLang="ko-KR" sz="28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NLP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원리에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기반한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실전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최적화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기법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체득</a:t>
            </a:r>
            <a:endParaRPr lang="en-US" altLang="ko-KR" sz="28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7" name="Picture 10">
            <a:extLst>
              <a:ext uri="{FF2B5EF4-FFF2-40B4-BE49-F238E27FC236}">
                <a16:creationId xmlns:a16="http://schemas.microsoft.com/office/drawing/2014/main" id="{7D80C736-6068-7BB4-0AB9-18FD2DBAAE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77883" y="9385300"/>
            <a:ext cx="8940800" cy="50800"/>
          </a:xfrm>
          <a:prstGeom prst="rect">
            <a:avLst/>
          </a:prstGeom>
        </p:spPr>
      </p:pic>
      <p:sp>
        <p:nvSpPr>
          <p:cNvPr id="18" name="TextBox 11">
            <a:extLst>
              <a:ext uri="{FF2B5EF4-FFF2-40B4-BE49-F238E27FC236}">
                <a16:creationId xmlns:a16="http://schemas.microsoft.com/office/drawing/2014/main" id="{95D4C089-7B21-5CA8-4209-41BC0EFBB3CB}"/>
              </a:ext>
            </a:extLst>
          </p:cNvPr>
          <p:cNvSpPr txBox="1"/>
          <p:nvPr/>
        </p:nvSpPr>
        <p:spPr>
          <a:xfrm>
            <a:off x="13177883" y="8610600"/>
            <a:ext cx="91059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>
              <a:lnSpc>
                <a:spcPct val="107899"/>
              </a:lnSpc>
            </a:pPr>
            <a:r>
              <a:rPr lang="en-US" altLang="ko-KR" sz="36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인텔리전트</a:t>
            </a:r>
            <a:r>
              <a:rPr lang="en-US" altLang="ko-KR" sz="36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36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시스템</a:t>
            </a:r>
            <a:r>
              <a:rPr lang="en-US" altLang="ko-KR" sz="36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36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구축</a:t>
            </a:r>
            <a:r>
              <a:rPr lang="en-US" altLang="ko-KR" sz="36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36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역량</a:t>
            </a:r>
            <a:r>
              <a:rPr lang="en-US" altLang="ko-KR" sz="3600" dirty="0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3600" dirty="0" err="1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확보</a:t>
            </a:r>
            <a:endParaRPr lang="en-US" altLang="ko-KR" sz="3600" dirty="0">
              <a:solidFill>
                <a:srgbClr val="000000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D89386F2-0DB5-68C1-21B6-2A074C9B4498}"/>
              </a:ext>
            </a:extLst>
          </p:cNvPr>
          <p:cNvSpPr txBox="1"/>
          <p:nvPr/>
        </p:nvSpPr>
        <p:spPr>
          <a:xfrm>
            <a:off x="13177883" y="9639300"/>
            <a:ext cx="9550400" cy="14224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사용자의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인터랙션에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따라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동적으로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프롬프트를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재구성</a:t>
            </a:r>
            <a:endParaRPr lang="en-US" altLang="ko-KR" sz="28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요청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분석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테스크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분해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컨텍스트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선택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출력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재구성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수행</a:t>
            </a:r>
            <a:endParaRPr lang="en-US" altLang="ko-KR" sz="28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Always-on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방식의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자동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최적화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설계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역량</a:t>
            </a:r>
            <a:r>
              <a:rPr lang="en-US" altLang="ko-KR" sz="28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altLang="ko-KR" sz="2800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확보</a:t>
            </a:r>
            <a:endParaRPr lang="en-US" altLang="ko-KR" sz="28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25E8240D-E009-139C-74F7-9DDDE1F9EBB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409700" y="609600"/>
            <a:ext cx="218694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 algn="l">
              <a:lnSpc>
                <a:spcPct val="99600"/>
              </a:lnSpc>
            </a:pPr>
            <a:r>
              <a:rPr lang="en-US" sz="8000" b="0" i="0" u="none" strike="noStrike" spc="-1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핵심 기능 정의 (MVP)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235200"/>
            <a:ext cx="21564600" cy="34417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727200" y="2514600"/>
            <a:ext cx="210566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기능 1: Prompt Compiler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27200" y="3327400"/>
            <a:ext cx="210312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입력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최적화를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통한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토큰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절약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한국어를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영어로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컴파일하여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토큰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효율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2.5배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향상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불필요한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컨텍스트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제거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구조적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재구성</a:t>
            </a:r>
            <a:endParaRPr lang="en-US" sz="3200" b="0" i="0" u="none" strike="noStrike" spc="-100" dirty="0">
              <a:solidFill>
                <a:srgbClr val="1F1F1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구현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100" dirty="0" err="1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우선순위</a:t>
            </a:r>
            <a:r>
              <a:rPr lang="en-US" sz="3200" b="0" i="0" u="none" strike="noStrike" spc="-100" dirty="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: 1순위 (Must)</a:t>
            </a: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6019800"/>
            <a:ext cx="21564600" cy="3441700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1727200" y="6299200"/>
            <a:ext cx="210566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기능 2: Basic CLI Wrapper + LLM 실행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7200" y="7112000"/>
            <a:ext cx="210312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실제 동작 환경 구축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터미널 기반 인터랙티브 래퍼 셸 구현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기존 CLI와 100% 호환되는 사용자 경험 제공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구현 우선순위: 2순위 (Must)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9804400"/>
            <a:ext cx="21564600" cy="34417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1727200" y="10083800"/>
            <a:ext cx="21056600" cy="635000"/>
          </a:xfrm>
          <a:prstGeom prst="rect">
            <a:avLst/>
          </a:prstGeom>
        </p:spPr>
        <p:txBody>
          <a:bodyPr lIns="0" tIns="0" rIns="0" bIns="22860" rtlCol="0" anchor="b"/>
          <a:lstStyle/>
          <a:p>
            <a:pPr lvl="0" algn="l">
              <a:lnSpc>
                <a:spcPct val="107899"/>
              </a:lnSpc>
            </a:pPr>
            <a:r>
              <a:rPr lang="en-US" sz="3600" b="0" i="0" u="none" strike="noStrike" spc="-100">
                <a:solidFill>
                  <a:srgbClr val="EF0000"/>
                </a:solidFill>
                <a:latin typeface="Pretendard Bold"/>
                <a:ea typeface="Pretendard Bold"/>
                <a:cs typeface="Pretendard Bold"/>
              </a:rPr>
              <a:t>기능 3: Output Compression + Simple State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7200" y="10896600"/>
            <a:ext cx="21031200" cy="1993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출력 압축 및 세션 최소 관리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핵심 정보만 추출하여 다음 단계로 전달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세션 상태 기반 동적 컨텍스트 관리</a:t>
            </a:r>
          </a:p>
          <a:p>
            <a:pPr lvl="0" algn="l">
              <a:lnSpc>
                <a:spcPct val="116199"/>
              </a:lnSpc>
            </a:pPr>
            <a:r>
              <a:rPr lang="en-US" sz="3200" b="0" i="0" u="none" strike="noStrike" spc="-100">
                <a:solidFill>
                  <a:srgbClr val="1F1F1F"/>
                </a:solidFill>
                <a:latin typeface="Pretendard Regular"/>
                <a:ea typeface="Pretendard Regular"/>
                <a:cs typeface="Pretendard Regular"/>
              </a:rPr>
              <a:t>- 구현 우선순위: 3순위 (Must)</a:t>
            </a:r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336C7CA4-6CE0-C047-32CB-D1FFCFFF8A4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3149600"/>
            <a:ext cx="10350500" cy="9715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2500" y="3149600"/>
            <a:ext cx="10350500" cy="9715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01400" y="6845300"/>
            <a:ext cx="1790700" cy="17907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5400000">
            <a:off x="11811000" y="7112000"/>
            <a:ext cx="558800" cy="12573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3400" y="5448300"/>
            <a:ext cx="7518400" cy="50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3700" y="12725400"/>
            <a:ext cx="10350500" cy="317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382500" y="12712700"/>
            <a:ext cx="10350500" cy="317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8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9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2997200" y="4495800"/>
            <a:ext cx="76835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Tokit vs 기존 서비스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009900" y="5880100"/>
            <a:ext cx="7645400" cy="3822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전체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워크플로우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오케스트레이션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의미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기반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재구성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세션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전체의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동적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상태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강점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테스크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흐름에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따른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실시간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최적화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약점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시스템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설계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및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운영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복잡도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발생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사용자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가치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LLM을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더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효율적으로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257300" y="6096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>
              <a:lnSpc>
                <a:spcPct val="99600"/>
              </a:lnSpc>
            </a:pP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유사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서비스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비교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분석</a:t>
            </a:r>
            <a:endParaRPr lang="en-US" sz="8000" b="0" i="0" u="none" strike="noStrike" spc="-100" dirty="0">
              <a:solidFill>
                <a:srgbClr val="FFFFFF"/>
              </a:solidFill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92200" y="5448300"/>
            <a:ext cx="7518400" cy="508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13716000" y="4495800"/>
            <a:ext cx="76835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HAM / RTK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28700" y="5880100"/>
            <a:ext cx="8369300" cy="38227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HAM: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파일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/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디렉토리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기반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컨텍스트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분할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HAM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약점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동적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컨텍스트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재구성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기능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부재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RTK: CLI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로그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압축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및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문자열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필터링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RTK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약점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요청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의도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분석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불가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세션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맥락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부재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공통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한계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정적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구조에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의존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한국어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미지원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57300" y="6096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>
              <a:lnSpc>
                <a:spcPct val="99600"/>
              </a:lnSpc>
            </a:pPr>
            <a:r>
              <a:rPr lang="en-US" sz="8000" b="0" i="0" u="none" strike="noStrike" spc="-1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차별화 전략</a:t>
            </a: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540000"/>
            <a:ext cx="5880100" cy="1498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2540000"/>
            <a:ext cx="21564600" cy="1498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536700" y="29210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사용 환경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43800" y="2781300"/>
            <a:ext cx="14833600" cy="9652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세션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전체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흐름을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관리하는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오케스트레이션</a:t>
            </a:r>
            <a:endParaRPr lang="en-US" sz="3200" b="0" i="0" u="none" strike="noStrike" spc="-2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07899"/>
              </a:lnSpc>
            </a:pP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단일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명령이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아닌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워크플로우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전체를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아우르는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시스템</a:t>
            </a:r>
            <a:endParaRPr lang="en-US" sz="3200" b="0" i="0" u="none" strike="noStrike" spc="-2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700" y="4711700"/>
            <a:ext cx="5880100" cy="149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700" y="4711700"/>
            <a:ext cx="21564600" cy="14986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536700" y="50927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기능 차별화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43800" y="4953000"/>
            <a:ext cx="14833600" cy="9652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'무엇을 줄일 것인가'를 넘어 '무엇을 전달할 것인가'를 결정</a:t>
            </a:r>
          </a:p>
          <a:p>
            <a:pPr lvl="0" algn="l">
              <a:lnSpc>
                <a:spcPct val="107899"/>
              </a:lnSpc>
            </a:pPr>
            <a:r>
              <a:rPr lang="en-US" sz="3200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요청 분석, 테스크 분해, 컨텍스트 선택을 유기적으로 수행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" y="6883400"/>
            <a:ext cx="5880100" cy="149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6883400"/>
            <a:ext cx="21564600" cy="14986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536700" y="72644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비용 구조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543800" y="7124700"/>
            <a:ext cx="14833600" cy="9652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(최적화 모델 비용 + 메인 모델 비용) &lt; (기존 방식 비용)</a:t>
            </a:r>
          </a:p>
          <a:p>
            <a:pPr lvl="0" algn="l">
              <a:lnSpc>
                <a:spcPct val="107899"/>
              </a:lnSpc>
            </a:pPr>
            <a:r>
              <a:rPr lang="en-US" sz="3200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저렴한 모델로 입력 컴파일 후 고가 모델 호출로 전체 비용 절감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9700" y="9055100"/>
            <a:ext cx="5880100" cy="149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9055100"/>
            <a:ext cx="21564600" cy="14986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536700" y="94361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기술적 우위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43800" y="9296400"/>
            <a:ext cx="14833600" cy="9652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동적 상태(Dynamic State) 관리 기능</a:t>
            </a:r>
          </a:p>
          <a:p>
            <a:pPr lvl="0" algn="l">
              <a:lnSpc>
                <a:spcPct val="107899"/>
              </a:lnSpc>
            </a:pPr>
            <a:r>
              <a:rPr lang="en-US" sz="3200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세션이 이어질수록 성능 저하되는 문제 해결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9700" y="11214100"/>
            <a:ext cx="5880100" cy="1498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11214100"/>
            <a:ext cx="21564600" cy="14986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536700" y="116078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UX/UI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43800" y="11468100"/>
            <a:ext cx="14833600" cy="9652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기존 CLI와 100% 호환되는 인터랙티브 래퍼 셸</a:t>
            </a:r>
          </a:p>
          <a:p>
            <a:pPr lvl="0" algn="l">
              <a:lnSpc>
                <a:spcPct val="107899"/>
              </a:lnSpc>
            </a:pPr>
            <a:r>
              <a:rPr lang="en-US" sz="3200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사용자가 별도 노력 없이 자동 최적화되는 Always-on 시스템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8216900"/>
            <a:ext cx="10350500" cy="45085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12725400"/>
            <a:ext cx="10350500" cy="3175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257300" y="6096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>
              <a:lnSpc>
                <a:spcPct val="99600"/>
              </a:lnSpc>
            </a:pP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기술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스택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및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데이터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활용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계획</a:t>
            </a:r>
            <a:endParaRPr lang="en-US" sz="8000" b="0" i="0" u="none" strike="noStrike" spc="-100" dirty="0">
              <a:solidFill>
                <a:srgbClr val="FFFFFF"/>
              </a:solidFill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800" y="8216900"/>
            <a:ext cx="10350500" cy="45085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3800" y="12725400"/>
            <a:ext cx="10350500" cy="3175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9677400"/>
            <a:ext cx="9182100" cy="508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159000" y="87122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AI/ML: Prompt Engineering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171700" y="100965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한국어 입력을 압축된 영어 프롬프트로 변환</a:t>
            </a:r>
          </a:p>
          <a:p>
            <a:pPr lvl="0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출력 형식 제어</a:t>
            </a:r>
          </a:p>
          <a:p>
            <a:pPr lvl="0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컨텍스트 최적화 기법 적용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8000" y="9677400"/>
            <a:ext cx="9182100" cy="50800"/>
          </a:xfrm>
          <a:prstGeom prst="rect">
            <a:avLst/>
          </a:prstGeom>
        </p:spPr>
      </p:pic>
      <p:sp>
        <p:nvSpPr>
          <p:cNvPr id="13" name="TextBox 13"/>
          <p:cNvSpPr txBox="1"/>
          <p:nvPr/>
        </p:nvSpPr>
        <p:spPr>
          <a:xfrm>
            <a:off x="13131800" y="87122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데이터셋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44500" y="100965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openai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/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openai_humaneval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: </a:t>
            </a:r>
            <a:r>
              <a:rPr lang="ko-KR" alt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프롬프트 압축 후 코드 생성 정확도 평가</a:t>
            </a:r>
          </a:p>
          <a:p>
            <a:pPr marL="457200" lvl="0" indent="-457200">
              <a:lnSpc>
                <a:spcPct val="132800"/>
              </a:lnSpc>
              <a:buFontTx/>
              <a:buChar char="-"/>
            </a:pP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daekeun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-ml/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naver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-news-summarization-ko:</a:t>
            </a:r>
          </a:p>
          <a:p>
            <a:pPr lvl="0">
              <a:lnSpc>
                <a:spcPct val="132800"/>
              </a:lnSpc>
            </a:pP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한국어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요약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성능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검증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2832100"/>
            <a:ext cx="10350500" cy="45085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7327900"/>
            <a:ext cx="10350500" cy="3175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800" y="2832100"/>
            <a:ext cx="10350500" cy="45085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23800" y="7327900"/>
            <a:ext cx="10350500" cy="3175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4343400"/>
            <a:ext cx="9182100" cy="50800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2159000" y="33782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언어: TypeScript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71700" y="47625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전체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CLI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프로그램의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메인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개발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언어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REPL,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상태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관리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,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파이프라인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연결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lvl="0">
              <a:lnSpc>
                <a:spcPct val="132800"/>
              </a:lnSpc>
            </a:pP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어댑터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구현에</a:t>
            </a:r>
            <a:r>
              <a:rPr lang="en-US" sz="3200" b="0" i="0" u="none" strike="noStrike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</a:t>
            </a:r>
            <a:endParaRPr lang="en-US" sz="3200" b="0" i="0" u="none" strike="noStrike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8000" y="4343400"/>
            <a:ext cx="9182100" cy="50800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3131800" y="33782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lvl="0" algn="ctr">
              <a:lnSpc>
                <a:spcPct val="107899"/>
              </a:lnSpc>
            </a:pPr>
            <a:r>
              <a:rPr lang="en-US" sz="4000" b="0" i="0" u="none" strike="noStrike">
                <a:solidFill>
                  <a:srgbClr val="000000"/>
                </a:solidFill>
                <a:latin typeface="Pretendard Bold"/>
                <a:ea typeface="Pretendard Bold"/>
                <a:cs typeface="Pretendard Bold"/>
              </a:rPr>
              <a:t>Runtime: Node.js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3144500" y="47625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터미널 환경에서 CLI 실행</a:t>
            </a:r>
          </a:p>
          <a:p>
            <a:pPr lvl="0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subprocess 제어</a:t>
            </a:r>
          </a:p>
          <a:p>
            <a:pPr lvl="0">
              <a:lnSpc>
                <a:spcPct val="1328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- 파일 시스템 접근 및 스트리밍 처리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1257300" y="6096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>
              <a:lnSpc>
                <a:spcPct val="99600"/>
              </a:lnSpc>
            </a:pP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프로젝트</a:t>
            </a:r>
            <a:r>
              <a:rPr lang="en-US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 </a:t>
            </a:r>
            <a:r>
              <a:rPr lang="en-US" sz="8000" b="0" i="0" u="none" strike="noStrike" spc="-100" dirty="0" err="1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일정</a:t>
            </a:r>
            <a:r>
              <a:rPr lang="en-US" altLang="ko-KR" sz="8000" b="0" i="0" u="none" strike="noStrike" spc="-100" dirty="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(1)</a:t>
            </a:r>
            <a:endParaRPr lang="en-US" sz="8000" b="0" i="0" u="none" strike="noStrike" spc="-100" dirty="0">
              <a:solidFill>
                <a:srgbClr val="FFFFFF"/>
              </a:solidFill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540000"/>
            <a:ext cx="5880100" cy="1498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2540000"/>
            <a:ext cx="21564600" cy="149860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1536700" y="29210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 ~ 2일: </a:t>
            </a:r>
            <a:r>
              <a:rPr lang="en-US" sz="4000" b="0" i="0" u="none" strike="noStrike" spc="-20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기획</a:t>
            </a:r>
            <a:endParaRPr lang="en-US" sz="4000" b="0" i="0" u="none" strike="noStrike" spc="-200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7543800" y="2781300"/>
            <a:ext cx="14833600" cy="9652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주제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선정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문제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정의</a:t>
            </a:r>
            <a:endParaRPr lang="en-US" sz="3200" b="0" i="0" u="none" strike="noStrike" spc="-2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  <a:p>
            <a:pPr lvl="0" algn="l">
              <a:lnSpc>
                <a:spcPct val="107899"/>
              </a:lnSpc>
            </a:pP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기획서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작성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및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페르소나</a:t>
            </a:r>
            <a:r>
              <a:rPr lang="en-US" sz="3200" b="0" i="0" u="none" strike="noStrike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sz="3200" b="0" i="0" u="none" strike="noStrike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분석</a:t>
            </a:r>
            <a:endParaRPr lang="en-US" sz="3200" b="0" i="0" u="none" strike="noStrike" spc="-200" dirty="0">
              <a:solidFill>
                <a:srgbClr val="FFFFFF"/>
              </a:solidFill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700" y="4711700"/>
            <a:ext cx="5880100" cy="14986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4711700"/>
            <a:ext cx="21564600" cy="1498600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536700" y="50927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3 ~ 4일: </a:t>
            </a:r>
            <a:r>
              <a:rPr lang="en-US" sz="4000" b="0" i="0" u="none" strike="noStrike" spc="-20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설계</a:t>
            </a:r>
            <a:endParaRPr lang="en-US" sz="4000" b="0" i="0" u="none" strike="noStrike" spc="-200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7543800" y="4953000"/>
            <a:ext cx="14833600" cy="9652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시스템 구조 설계</a:t>
            </a:r>
          </a:p>
          <a:p>
            <a:pPr lvl="0" algn="l">
              <a:lnSpc>
                <a:spcPct val="107899"/>
              </a:lnSpc>
            </a:pPr>
            <a:r>
              <a:rPr lang="en-US" sz="3200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역할 분담 및 기술 스택 확정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700" y="6883400"/>
            <a:ext cx="5880100" cy="14986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6883400"/>
            <a:ext cx="21564600" cy="1498600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536700" y="72644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5 ~ 7일: </a:t>
            </a:r>
            <a:r>
              <a:rPr lang="en-US" sz="4000" b="0" i="0" u="none" strike="noStrike" spc="-20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구현</a:t>
            </a:r>
            <a:endParaRPr lang="en-US" sz="4000" b="0" i="0" u="none" strike="noStrike" spc="-200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543800" y="7124700"/>
            <a:ext cx="14833600" cy="9652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핵심 기능 3개 개발</a:t>
            </a:r>
          </a:p>
          <a:p>
            <a:pPr lvl="0" algn="l">
              <a:lnSpc>
                <a:spcPct val="107899"/>
              </a:lnSpc>
            </a:pPr>
            <a:r>
              <a:rPr lang="en-US" sz="3200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Prompt Compiler, CLI Wrapper, Output Compression 구현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" y="9055100"/>
            <a:ext cx="5880100" cy="14986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9700" y="9055100"/>
            <a:ext cx="21564600" cy="1498600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536700" y="94361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8 ~ 9일: </a:t>
            </a:r>
            <a:r>
              <a:rPr lang="en-US" sz="4000" b="0" i="0" u="none" strike="noStrike" spc="-20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테스트</a:t>
            </a:r>
            <a:endParaRPr lang="en-US" sz="4000" b="0" i="0" u="none" strike="noStrike" spc="-200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543800" y="9296400"/>
            <a:ext cx="14833600" cy="9652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오류 수정 및 기능 점검</a:t>
            </a:r>
          </a:p>
          <a:p>
            <a:pPr lvl="0" algn="l">
              <a:lnSpc>
                <a:spcPct val="107899"/>
              </a:lnSpc>
            </a:pPr>
            <a:r>
              <a:rPr lang="en-US" sz="3200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토큰 절감률 측정 및 성능 검증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9700" y="11214100"/>
            <a:ext cx="5880100" cy="14986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11214100"/>
            <a:ext cx="21564600" cy="1498600"/>
          </a:xfrm>
          <a:prstGeom prst="rect">
            <a:avLst/>
          </a:prstGeom>
        </p:spPr>
      </p:pic>
      <p:sp>
        <p:nvSpPr>
          <p:cNvPr id="22" name="TextBox 22"/>
          <p:cNvSpPr txBox="1"/>
          <p:nvPr/>
        </p:nvSpPr>
        <p:spPr>
          <a:xfrm>
            <a:off x="1536700" y="116078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lvl="0" algn="ctr">
              <a:lnSpc>
                <a:spcPct val="99600"/>
              </a:lnSpc>
            </a:pPr>
            <a:r>
              <a:rPr lang="en-US" sz="4000" b="0" i="0" u="none" strike="noStrike" spc="-20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10일: 발표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543800" y="11468100"/>
            <a:ext cx="14833600" cy="9652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 algn="l">
              <a:lnSpc>
                <a:spcPct val="107899"/>
              </a:lnSpc>
            </a:pPr>
            <a:r>
              <a:rPr lang="en-US" sz="3200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결과 정리 및 시연 준비</a:t>
            </a:r>
          </a:p>
          <a:p>
            <a:pPr lvl="0" algn="l">
              <a:lnSpc>
                <a:spcPct val="107899"/>
              </a:lnSpc>
            </a:pPr>
            <a:r>
              <a:rPr lang="en-US" sz="3200" b="0" i="0" u="none" strike="noStrike" spc="-20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 최종 발표 자료 완성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76251B5-DEFE-E3B7-056B-EE26417FF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B32889D-0F1C-65DE-AE12-0F2195E9FB3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D834430D-3A69-6CBF-082B-5D3A3B491866}"/>
              </a:ext>
            </a:extLst>
          </p:cNvPr>
          <p:cNvSpPr txBox="1"/>
          <p:nvPr/>
        </p:nvSpPr>
        <p:spPr>
          <a:xfrm>
            <a:off x="1257300" y="6096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marL="0" marR="0" lvl="0" indent="0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lack"/>
                <a:ea typeface="Pretendard Black"/>
                <a:cs typeface="Pretendard Black"/>
              </a:rPr>
              <a:t>프로젝트 일정</a:t>
            </a:r>
            <a:r>
              <a:rPr kumimoji="0" lang="en-US" altLang="ko-KR" sz="80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lack"/>
                <a:ea typeface="Pretendard Black"/>
                <a:cs typeface="Pretendard Black"/>
              </a:rPr>
              <a:t>(2)</a:t>
            </a:r>
            <a:endParaRPr kumimoji="0" lang="en-US" sz="80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B4BF357-3C2D-BFE9-9F0F-639A34CFFB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540000"/>
            <a:ext cx="5880100" cy="14986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A1E09BA2-43DC-E53D-B79B-EECB2D858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2540000"/>
            <a:ext cx="21564600" cy="14986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225C3FE8-FF57-BEDB-39E8-158572EFC6AE}"/>
              </a:ext>
            </a:extLst>
          </p:cNvPr>
          <p:cNvSpPr txBox="1"/>
          <p:nvPr/>
        </p:nvSpPr>
        <p:spPr>
          <a:xfrm>
            <a:off x="1536700" y="29210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11 ~ 15</a:t>
            </a:r>
            <a:r>
              <a:rPr kumimoji="0" lang="en-US" sz="4000" b="0" i="0" u="none" strike="noStrike" kern="1200" cap="none" spc="-2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일</a:t>
            </a:r>
            <a:r>
              <a:rPr kumimoji="0" lang="en-US" sz="40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: </a:t>
            </a:r>
            <a:r>
              <a:rPr lang="ko-KR" altLang="en-US" sz="4000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확장</a:t>
            </a:r>
            <a:endParaRPr kumimoji="0" lang="en-US" sz="4000" b="0" i="0" u="none" strike="noStrike" kern="1200" cap="none" spc="-2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6B7343E-CAED-FB0A-8363-76CB887D6B41}"/>
              </a:ext>
            </a:extLst>
          </p:cNvPr>
          <p:cNvSpPr txBox="1"/>
          <p:nvPr/>
        </p:nvSpPr>
        <p:spPr>
          <a:xfrm>
            <a:off x="7543800" y="2781300"/>
            <a:ext cx="14833600" cy="9652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-</a:t>
            </a: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200" spc="-200" dirty="0" err="1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Openclaw</a:t>
            </a:r>
            <a:r>
              <a:rPr lang="ko-KR" altLang="en-US" sz="3200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등</a:t>
            </a:r>
            <a:r>
              <a:rPr lang="en-US" altLang="ko-KR" sz="3200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AI Agent</a:t>
            </a:r>
            <a:r>
              <a:rPr lang="ko-KR" altLang="en-US" sz="3200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서비스</a:t>
            </a:r>
            <a:r>
              <a:rPr lang="en-US" altLang="ko-KR" sz="3200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ko-KR" altLang="en-US" sz="3200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연결</a:t>
            </a:r>
            <a:endParaRPr kumimoji="0" lang="en-US" sz="3200" b="0" i="0" u="none" strike="noStrike" kern="1200" cap="none" spc="-2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B9321616-E69A-D105-8B3E-B602D55B83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700" y="4711700"/>
            <a:ext cx="5880100" cy="14986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4206E355-9B8A-3C34-EDD9-9400726DBF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4711700"/>
            <a:ext cx="21564600" cy="14986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09681290-D071-E9C2-CB37-3F1C02D72F92}"/>
              </a:ext>
            </a:extLst>
          </p:cNvPr>
          <p:cNvSpPr txBox="1"/>
          <p:nvPr/>
        </p:nvSpPr>
        <p:spPr>
          <a:xfrm>
            <a:off x="1536700" y="50927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16</a:t>
            </a:r>
            <a:r>
              <a:rPr lang="ko-KR" altLang="en-US" sz="4000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4000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~</a:t>
            </a:r>
            <a:r>
              <a:rPr lang="ko-KR" altLang="en-US" sz="4000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 </a:t>
            </a:r>
            <a:r>
              <a:rPr lang="en-US" altLang="ko-KR" sz="4000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17</a:t>
            </a:r>
            <a:r>
              <a:rPr kumimoji="0" lang="en-US" sz="4000" b="0" i="0" u="none" strike="noStrike" kern="1200" cap="none" spc="-2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일</a:t>
            </a:r>
            <a:r>
              <a:rPr kumimoji="0" lang="en-US" sz="40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: </a:t>
            </a:r>
            <a:r>
              <a:rPr lang="ko-KR" altLang="en-US" sz="4000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웹 </a:t>
            </a:r>
            <a:r>
              <a:rPr lang="en-US" altLang="ko-KR" sz="4000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UI </a:t>
            </a:r>
            <a:r>
              <a:rPr lang="ko-KR" altLang="en-US" sz="4000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고도화</a:t>
            </a:r>
            <a:endParaRPr kumimoji="0" lang="en-US" sz="4000" b="0" i="0" u="none" strike="noStrike" kern="1200" cap="none" spc="-2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34EE1FB-A952-71FC-F114-3366DE586437}"/>
              </a:ext>
            </a:extLst>
          </p:cNvPr>
          <p:cNvSpPr txBox="1"/>
          <p:nvPr/>
        </p:nvSpPr>
        <p:spPr>
          <a:xfrm>
            <a:off x="7543800" y="4953000"/>
            <a:ext cx="14833600" cy="9652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- </a:t>
            </a: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 프로젝트 소개</a:t>
            </a:r>
            <a:r>
              <a:rPr kumimoji="0" lang="en-US" altLang="ko-KR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,</a:t>
            </a: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 성능 지표</a:t>
            </a:r>
            <a:r>
              <a:rPr kumimoji="0" lang="en-US" altLang="ko-KR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,</a:t>
            </a: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 주요 기능</a:t>
            </a:r>
            <a:r>
              <a:rPr kumimoji="0" lang="en-US" altLang="ko-KR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,</a:t>
            </a: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 </a:t>
            </a:r>
            <a:r>
              <a:rPr kumimoji="0" lang="en-US" altLang="ko-KR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Docs </a:t>
            </a: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내용을 포함한 웹사이트 제작</a:t>
            </a:r>
            <a:endParaRPr kumimoji="0" lang="en-US" altLang="ko-KR" sz="3200" b="0" i="0" u="none" strike="noStrike" kern="1200" cap="none" spc="-2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Regular"/>
              <a:ea typeface="Pretendard Regular"/>
              <a:cs typeface="Pretendard Regular"/>
            </a:endParaRPr>
          </a:p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-</a:t>
            </a:r>
            <a:r>
              <a:rPr lang="ko-KR" altLang="en-US" sz="3200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</a:t>
            </a:r>
            <a:r>
              <a:rPr lang="en-US" altLang="ko-KR" sz="3200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B2B</a:t>
            </a:r>
            <a:r>
              <a:rPr lang="ko-KR" altLang="en-US" sz="3200" spc="-200" dirty="0">
                <a:solidFill>
                  <a:srgbClr val="FFFFFF"/>
                </a:solidFill>
                <a:latin typeface="Pretendard Regular"/>
                <a:ea typeface="Pretendard Regular"/>
                <a:cs typeface="Pretendard Regular"/>
              </a:rPr>
              <a:t> 용 관리자 페이지 제작</a:t>
            </a:r>
            <a:endParaRPr kumimoji="0" lang="en-US" altLang="ko-KR" sz="3200" b="0" i="0" u="none" strike="noStrike" kern="1200" cap="none" spc="-2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0C991941-0670-3209-8D42-CB6D6B9F8B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700" y="6883400"/>
            <a:ext cx="5880100" cy="14986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9AE43787-DA26-56BF-F22C-0DB2BB95D2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6883400"/>
            <a:ext cx="21564600" cy="14986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6D150212-0772-51CF-A84C-BEB993AF6018}"/>
              </a:ext>
            </a:extLst>
          </p:cNvPr>
          <p:cNvSpPr txBox="1"/>
          <p:nvPr/>
        </p:nvSpPr>
        <p:spPr>
          <a:xfrm>
            <a:off x="1536700" y="72644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18</a:t>
            </a:r>
            <a:r>
              <a:rPr kumimoji="0" lang="en-US" sz="4000" b="0" i="0" u="none" strike="noStrike" kern="1200" cap="none" spc="-2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일</a:t>
            </a:r>
            <a:r>
              <a:rPr kumimoji="0" lang="en-US" sz="40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: </a:t>
            </a:r>
            <a:r>
              <a:rPr lang="ko-KR" altLang="en-US" sz="4000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보안기능 강화</a:t>
            </a:r>
            <a:endParaRPr kumimoji="0" lang="en-US" sz="4000" b="0" i="0" u="none" strike="noStrike" kern="1200" cap="none" spc="-2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6B3CB00A-9FF4-3BEA-8BE1-391B47586F41}"/>
              </a:ext>
            </a:extLst>
          </p:cNvPr>
          <p:cNvSpPr txBox="1"/>
          <p:nvPr/>
        </p:nvSpPr>
        <p:spPr>
          <a:xfrm>
            <a:off x="7543800" y="7124700"/>
            <a:ext cx="14833600" cy="9652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>
              <a:lnSpc>
                <a:spcPct val="107899"/>
              </a:lnSpc>
            </a:pPr>
            <a:r>
              <a:rPr kumimoji="0" lang="en-US" sz="3200" b="0" i="0" u="none" strike="noStrike" kern="1200" cap="none" spc="-20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- </a:t>
            </a:r>
            <a:r>
              <a:rPr lang="en-US" altLang="ko-KR" sz="3200" dirty="0">
                <a:solidFill>
                  <a:schemeClr val="bg1"/>
                </a:solidFill>
              </a:rPr>
              <a:t>README, </a:t>
            </a:r>
            <a:r>
              <a:rPr lang="ko-KR" altLang="en-US" sz="3200" dirty="0">
                <a:solidFill>
                  <a:schemeClr val="bg1"/>
                </a:solidFill>
              </a:rPr>
              <a:t>아키텍처 문서</a:t>
            </a:r>
            <a:r>
              <a:rPr lang="en-US" altLang="ko-KR" sz="3200" dirty="0">
                <a:solidFill>
                  <a:schemeClr val="bg1"/>
                </a:solidFill>
              </a:rPr>
              <a:t>, </a:t>
            </a:r>
            <a:r>
              <a:rPr lang="ko-KR" altLang="en-US" sz="3200" dirty="0">
                <a:solidFill>
                  <a:schemeClr val="bg1"/>
                </a:solidFill>
              </a:rPr>
              <a:t>사용 가이드</a:t>
            </a:r>
            <a:r>
              <a:rPr lang="en-US" altLang="ko-KR" sz="3200" dirty="0">
                <a:solidFill>
                  <a:schemeClr val="bg1"/>
                </a:solidFill>
              </a:rPr>
              <a:t>, </a:t>
            </a:r>
            <a:r>
              <a:rPr lang="ko-KR" altLang="en-US" sz="3200" dirty="0">
                <a:solidFill>
                  <a:schemeClr val="bg1"/>
                </a:solidFill>
              </a:rPr>
              <a:t>설치 및 실행 방법 정리</a:t>
            </a:r>
            <a:endParaRPr kumimoji="0" lang="en-US" sz="3200" b="0" i="0" u="none" strike="noStrike" kern="1200" cap="none" spc="-2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6" name="Picture 16">
            <a:extLst>
              <a:ext uri="{FF2B5EF4-FFF2-40B4-BE49-F238E27FC236}">
                <a16:creationId xmlns:a16="http://schemas.microsoft.com/office/drawing/2014/main" id="{A8B48D67-E2EE-26DC-3854-5C242379DCE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" y="9055100"/>
            <a:ext cx="5880100" cy="14986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EC333682-053E-1620-9FFE-CD23591A486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9700" y="9055100"/>
            <a:ext cx="21564600" cy="1498600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2AAC4A58-2265-723A-0D4F-70F214D7288A}"/>
              </a:ext>
            </a:extLst>
          </p:cNvPr>
          <p:cNvSpPr txBox="1"/>
          <p:nvPr/>
        </p:nvSpPr>
        <p:spPr>
          <a:xfrm>
            <a:off x="1536700" y="94361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40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19</a:t>
            </a:r>
            <a:r>
              <a:rPr kumimoji="0" lang="ko-KR" altLang="en-US" sz="40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일</a:t>
            </a:r>
            <a:r>
              <a:rPr kumimoji="0" lang="en-US" altLang="ko-KR" sz="40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:</a:t>
            </a:r>
            <a:r>
              <a:rPr kumimoji="0" lang="ko-KR" altLang="en-US" sz="40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 성능 개선</a:t>
            </a:r>
            <a:endParaRPr kumimoji="0" lang="en-US" sz="4000" b="0" i="0" u="none" strike="noStrike" kern="1200" cap="none" spc="-2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CA12E137-B685-8BEF-49C3-3CE23FECE633}"/>
              </a:ext>
            </a:extLst>
          </p:cNvPr>
          <p:cNvSpPr txBox="1"/>
          <p:nvPr/>
        </p:nvSpPr>
        <p:spPr>
          <a:xfrm>
            <a:off x="7543800" y="9296400"/>
            <a:ext cx="14833600" cy="9652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- </a:t>
            </a: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속도</a:t>
            </a:r>
            <a:r>
              <a:rPr kumimoji="0" lang="en-US" altLang="ko-KR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/</a:t>
            </a: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응답</a:t>
            </a:r>
            <a:r>
              <a:rPr kumimoji="0" lang="en-US" altLang="ko-KR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/</a:t>
            </a: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토큰 절감 효과 점검</a:t>
            </a:r>
            <a:r>
              <a:rPr kumimoji="0" lang="en-US" altLang="ko-KR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, </a:t>
            </a: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최적화 및 개선 사항 반영</a:t>
            </a:r>
            <a:endParaRPr kumimoji="0" lang="en-US" sz="3200" b="0" i="0" u="none" strike="noStrike" kern="1200" cap="none" spc="-2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20" name="Picture 20">
            <a:extLst>
              <a:ext uri="{FF2B5EF4-FFF2-40B4-BE49-F238E27FC236}">
                <a16:creationId xmlns:a16="http://schemas.microsoft.com/office/drawing/2014/main" id="{62E1D4FE-B3A0-4DA0-7100-2ED590CFBD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09700" y="11214100"/>
            <a:ext cx="5880100" cy="1498600"/>
          </a:xfrm>
          <a:prstGeom prst="rect">
            <a:avLst/>
          </a:prstGeom>
        </p:spPr>
      </p:pic>
      <p:pic>
        <p:nvPicPr>
          <p:cNvPr id="21" name="Picture 21">
            <a:extLst>
              <a:ext uri="{FF2B5EF4-FFF2-40B4-BE49-F238E27FC236}">
                <a16:creationId xmlns:a16="http://schemas.microsoft.com/office/drawing/2014/main" id="{024356DE-BDE3-2E95-4328-50B8B3343F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11214100"/>
            <a:ext cx="21564600" cy="1498600"/>
          </a:xfrm>
          <a:prstGeom prst="rect">
            <a:avLst/>
          </a:prstGeom>
        </p:spPr>
      </p:pic>
      <p:sp>
        <p:nvSpPr>
          <p:cNvPr id="22" name="TextBox 22">
            <a:extLst>
              <a:ext uri="{FF2B5EF4-FFF2-40B4-BE49-F238E27FC236}">
                <a16:creationId xmlns:a16="http://schemas.microsoft.com/office/drawing/2014/main" id="{06DFF20A-9891-7984-77B5-FB9F4C88491B}"/>
              </a:ext>
            </a:extLst>
          </p:cNvPr>
          <p:cNvSpPr txBox="1"/>
          <p:nvPr/>
        </p:nvSpPr>
        <p:spPr>
          <a:xfrm>
            <a:off x="1536700" y="116078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4000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20</a:t>
            </a:r>
            <a:r>
              <a:rPr kumimoji="0" lang="en-US" sz="4000" b="0" i="0" u="none" strike="noStrike" kern="1200" cap="none" spc="-2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일</a:t>
            </a:r>
            <a:r>
              <a:rPr kumimoji="0" lang="en-US" sz="40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: </a:t>
            </a:r>
            <a:r>
              <a:rPr lang="ko-KR" altLang="en-US" sz="4000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최종 정리</a:t>
            </a:r>
            <a:endParaRPr kumimoji="0" lang="en-US" sz="4000" b="0" i="0" u="none" strike="noStrike" kern="1200" cap="none" spc="-2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3" name="TextBox 23">
            <a:extLst>
              <a:ext uri="{FF2B5EF4-FFF2-40B4-BE49-F238E27FC236}">
                <a16:creationId xmlns:a16="http://schemas.microsoft.com/office/drawing/2014/main" id="{E4B42005-7E56-C4B1-2F2C-A0767BCE752E}"/>
              </a:ext>
            </a:extLst>
          </p:cNvPr>
          <p:cNvSpPr txBox="1"/>
          <p:nvPr/>
        </p:nvSpPr>
        <p:spPr>
          <a:xfrm>
            <a:off x="7543800" y="11468100"/>
            <a:ext cx="14833600" cy="9652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marL="0" marR="0" lvl="0" indent="0" algn="l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- </a:t>
            </a: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전체 결과물 점검</a:t>
            </a:r>
            <a:r>
              <a:rPr kumimoji="0" lang="en-US" altLang="ko-KR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, </a:t>
            </a: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배포</a:t>
            </a:r>
            <a:r>
              <a:rPr kumimoji="0" lang="en-US" altLang="ko-KR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/</a:t>
            </a: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시연 준비</a:t>
            </a:r>
            <a:r>
              <a:rPr kumimoji="0" lang="en-US" altLang="ko-KR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, </a:t>
            </a:r>
            <a:r>
              <a:rPr kumimoji="0" lang="ko-KR" altLang="en-US" sz="32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Regular"/>
                <a:ea typeface="Pretendard Regular"/>
                <a:cs typeface="Pretendard Regular"/>
              </a:rPr>
              <a:t>발표자료 및 회고 정리</a:t>
            </a:r>
            <a:endParaRPr kumimoji="0" lang="en-US" sz="3200" b="0" i="0" u="none" strike="noStrike" kern="1200" cap="none" spc="-2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26139119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ACED08-6081-52B7-85DA-6A4B5B341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BEDE595E-EEB7-6C9C-9BA6-059DC34A1C3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302C0C6A-1742-C85D-B820-11350A8FD8CC}"/>
              </a:ext>
            </a:extLst>
          </p:cNvPr>
          <p:cNvSpPr txBox="1"/>
          <p:nvPr/>
        </p:nvSpPr>
        <p:spPr>
          <a:xfrm>
            <a:off x="1257300" y="6096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marL="0" marR="0" lvl="0" indent="0" algn="l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lack"/>
                <a:ea typeface="Pretendard Black"/>
                <a:cs typeface="Pretendard Black"/>
              </a:rPr>
              <a:t>팀 구성</a:t>
            </a:r>
            <a:endParaRPr kumimoji="0" lang="en-US" sz="80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FBDF06F4-9298-7AB1-1D19-CE464EFD10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9700" y="2540000"/>
            <a:ext cx="5880100" cy="14986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2EC7BF1A-9D1E-E32F-B4F1-70DCEEACF6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2540000"/>
            <a:ext cx="21564600" cy="14986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A05331E7-5F21-C7EC-4634-F01FD27684C3}"/>
              </a:ext>
            </a:extLst>
          </p:cNvPr>
          <p:cNvSpPr txBox="1"/>
          <p:nvPr/>
        </p:nvSpPr>
        <p:spPr>
          <a:xfrm>
            <a:off x="1536700" y="29210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-20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최규철</a:t>
            </a:r>
            <a:r>
              <a:rPr kumimoji="0" lang="en-US" altLang="ko-KR" sz="40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(</a:t>
            </a:r>
            <a:r>
              <a:rPr kumimoji="0" lang="ko-KR" altLang="en-US" sz="40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팀장</a:t>
            </a:r>
            <a:r>
              <a:rPr kumimoji="0" lang="en-US" altLang="ko-KR" sz="40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)</a:t>
            </a:r>
            <a:endParaRPr kumimoji="0" lang="en-US" sz="4000" b="0" i="0" u="none" strike="noStrike" kern="1200" cap="none" spc="-2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3999CB1-FC33-DCD8-D027-03109BA79074}"/>
              </a:ext>
            </a:extLst>
          </p:cNvPr>
          <p:cNvSpPr txBox="1"/>
          <p:nvPr/>
        </p:nvSpPr>
        <p:spPr>
          <a:xfrm>
            <a:off x="7565923" y="2946400"/>
            <a:ext cx="14833600" cy="8509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>
              <a:lnSpc>
                <a:spcPct val="107899"/>
              </a:lnSpc>
            </a:pPr>
            <a:r>
              <a:rPr lang="ko-KR" altLang="en-US" sz="3600" dirty="0">
                <a:solidFill>
                  <a:schemeClr val="bg1"/>
                </a:solidFill>
              </a:rPr>
              <a:t>기획</a:t>
            </a:r>
            <a:r>
              <a:rPr lang="en-US" altLang="ko-KR" sz="3600" dirty="0">
                <a:solidFill>
                  <a:schemeClr val="bg1"/>
                </a:solidFill>
              </a:rPr>
              <a:t>, </a:t>
            </a:r>
            <a:r>
              <a:rPr lang="ko-KR" altLang="en-US" sz="3600" dirty="0">
                <a:solidFill>
                  <a:schemeClr val="bg1"/>
                </a:solidFill>
              </a:rPr>
              <a:t>일정</a:t>
            </a:r>
            <a:r>
              <a:rPr lang="en-US" altLang="ko-KR" sz="3600" dirty="0">
                <a:solidFill>
                  <a:schemeClr val="bg1"/>
                </a:solidFill>
              </a:rPr>
              <a:t>/</a:t>
            </a:r>
            <a:r>
              <a:rPr lang="ko-KR" altLang="en-US" sz="3600" dirty="0">
                <a:solidFill>
                  <a:schemeClr val="bg1"/>
                </a:solidFill>
              </a:rPr>
              <a:t>과업 관리</a:t>
            </a:r>
            <a:r>
              <a:rPr lang="en-US" altLang="ko-KR" sz="3600" dirty="0">
                <a:solidFill>
                  <a:schemeClr val="bg1"/>
                </a:solidFill>
              </a:rPr>
              <a:t>, CLI </a:t>
            </a:r>
            <a:r>
              <a:rPr lang="ko-KR" altLang="en-US" sz="3600" dirty="0">
                <a:solidFill>
                  <a:schemeClr val="bg1"/>
                </a:solidFill>
              </a:rPr>
              <a:t>개발</a:t>
            </a:r>
            <a:endParaRPr kumimoji="0" lang="en-US" sz="3600" b="0" i="0" u="none" strike="noStrike" kern="1200" cap="none" spc="-2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2099B18D-4704-ED54-6AE3-C8A48750C6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09700" y="4711700"/>
            <a:ext cx="5880100" cy="14986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29EE6B73-47F1-8956-E731-B9BC2A117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4711700"/>
            <a:ext cx="21564600" cy="14986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066DFCAC-413B-3552-DD69-342FDEDECD1A}"/>
              </a:ext>
            </a:extLst>
          </p:cNvPr>
          <p:cNvSpPr txBox="1"/>
          <p:nvPr/>
        </p:nvSpPr>
        <p:spPr>
          <a:xfrm>
            <a:off x="1536700" y="50927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spc="-200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윤지현</a:t>
            </a:r>
            <a:endParaRPr kumimoji="0" lang="en-US" sz="4000" b="0" i="0" u="none" strike="noStrike" kern="1200" cap="none" spc="-2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65E1418-8F9F-EC3F-3B77-3EA6057A1757}"/>
              </a:ext>
            </a:extLst>
          </p:cNvPr>
          <p:cNvSpPr txBox="1"/>
          <p:nvPr/>
        </p:nvSpPr>
        <p:spPr>
          <a:xfrm>
            <a:off x="7543800" y="5099050"/>
            <a:ext cx="14833600" cy="9652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>
              <a:lnSpc>
                <a:spcPct val="107899"/>
              </a:lnSpc>
            </a:pPr>
            <a:r>
              <a:rPr lang="en-US" altLang="ko-KR" sz="3600" dirty="0">
                <a:solidFill>
                  <a:schemeClr val="bg1"/>
                </a:solidFill>
              </a:rPr>
              <a:t>Task Graph &amp; Workflow Engineer </a:t>
            </a:r>
            <a:r>
              <a:rPr lang="ko-KR" altLang="en-US" sz="3600" dirty="0">
                <a:solidFill>
                  <a:schemeClr val="bg1"/>
                </a:solidFill>
              </a:rPr>
              <a:t>개발</a:t>
            </a:r>
            <a:endParaRPr kumimoji="0" lang="en-US" altLang="ko-KR" sz="3600" b="0" i="0" u="none" strike="noStrike" kern="1200" cap="none" spc="-2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2E0DF9C7-30E5-68DC-F910-1655F437F1C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09700" y="6883400"/>
            <a:ext cx="5880100" cy="1498600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622D0DD6-227E-82FC-7598-1F3E0AD4A1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9700" y="6883400"/>
            <a:ext cx="21564600" cy="1498600"/>
          </a:xfrm>
          <a:prstGeom prst="rect">
            <a:avLst/>
          </a:prstGeom>
        </p:spPr>
      </p:pic>
      <p:sp>
        <p:nvSpPr>
          <p:cNvPr id="14" name="TextBox 14">
            <a:extLst>
              <a:ext uri="{FF2B5EF4-FFF2-40B4-BE49-F238E27FC236}">
                <a16:creationId xmlns:a16="http://schemas.microsoft.com/office/drawing/2014/main" id="{72D6512A-9ECD-6346-E007-66F184AA9F00}"/>
              </a:ext>
            </a:extLst>
          </p:cNvPr>
          <p:cNvSpPr txBox="1"/>
          <p:nvPr/>
        </p:nvSpPr>
        <p:spPr>
          <a:xfrm>
            <a:off x="1536700" y="72644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-2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이지호</a:t>
            </a:r>
            <a:endParaRPr kumimoji="0" lang="en-US" sz="4000" b="0" i="0" u="none" strike="noStrike" kern="1200" cap="none" spc="-2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CC895121-33AC-B99A-53AE-3413CFBD35CC}"/>
              </a:ext>
            </a:extLst>
          </p:cNvPr>
          <p:cNvSpPr txBox="1"/>
          <p:nvPr/>
        </p:nvSpPr>
        <p:spPr>
          <a:xfrm>
            <a:off x="7543800" y="7340600"/>
            <a:ext cx="14833600" cy="9652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>
              <a:lnSpc>
                <a:spcPct val="107899"/>
              </a:lnSpc>
            </a:pPr>
            <a:r>
              <a:rPr lang="en-US" altLang="ko-KR" sz="3600" dirty="0">
                <a:solidFill>
                  <a:schemeClr val="bg1"/>
                </a:solidFill>
              </a:rPr>
              <a:t>State &amp; Context Engineer </a:t>
            </a:r>
            <a:r>
              <a:rPr lang="ko-KR" altLang="en-US" sz="3600" dirty="0">
                <a:solidFill>
                  <a:schemeClr val="bg1"/>
                </a:solidFill>
              </a:rPr>
              <a:t>개발</a:t>
            </a:r>
            <a:endParaRPr kumimoji="0" lang="en-US" sz="3600" b="0" i="0" u="none" strike="noStrike" kern="1200" cap="none" spc="-2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Regular"/>
              <a:ea typeface="Pretendard Regular"/>
              <a:cs typeface="Pretendard Regular"/>
            </a:endParaRPr>
          </a:p>
        </p:txBody>
      </p:sp>
      <p:pic>
        <p:nvPicPr>
          <p:cNvPr id="16" name="Picture 16">
            <a:extLst>
              <a:ext uri="{FF2B5EF4-FFF2-40B4-BE49-F238E27FC236}">
                <a16:creationId xmlns:a16="http://schemas.microsoft.com/office/drawing/2014/main" id="{01ED0136-D306-4E04-1CE7-D9483FB765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09700" y="9055100"/>
            <a:ext cx="5880100" cy="14986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4E00A58B-2E51-11C3-2E6C-C3ED97C0E0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9700" y="9055100"/>
            <a:ext cx="21564600" cy="1498600"/>
          </a:xfrm>
          <a:prstGeom prst="rect">
            <a:avLst/>
          </a:prstGeom>
        </p:spPr>
      </p:pic>
      <p:sp>
        <p:nvSpPr>
          <p:cNvPr id="18" name="TextBox 18">
            <a:extLst>
              <a:ext uri="{FF2B5EF4-FFF2-40B4-BE49-F238E27FC236}">
                <a16:creationId xmlns:a16="http://schemas.microsoft.com/office/drawing/2014/main" id="{D38F82F0-B360-45CD-5E9B-0076E13CA8CE}"/>
              </a:ext>
            </a:extLst>
          </p:cNvPr>
          <p:cNvSpPr txBox="1"/>
          <p:nvPr/>
        </p:nvSpPr>
        <p:spPr>
          <a:xfrm>
            <a:off x="1536700" y="9436100"/>
            <a:ext cx="5626100" cy="711200"/>
          </a:xfrm>
          <a:prstGeom prst="rect">
            <a:avLst/>
          </a:prstGeom>
        </p:spPr>
        <p:txBody>
          <a:bodyPr lIns="0" tIns="50800" rIns="0" bIns="50800" rtlCol="0" anchor="ctr"/>
          <a:lstStyle/>
          <a:p>
            <a:pPr marL="0" marR="0" lvl="0" indent="0" algn="ctr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4000" spc="-200" dirty="0" err="1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한시호</a:t>
            </a:r>
            <a:endParaRPr kumimoji="0" lang="en-US" sz="4000" b="0" i="0" u="none" strike="noStrike" kern="1200" cap="none" spc="-2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92857EFA-5F4F-4C1E-8B63-3EAB66859FA8}"/>
              </a:ext>
            </a:extLst>
          </p:cNvPr>
          <p:cNvSpPr txBox="1"/>
          <p:nvPr/>
        </p:nvSpPr>
        <p:spPr>
          <a:xfrm>
            <a:off x="7543800" y="9474200"/>
            <a:ext cx="14833600" cy="965200"/>
          </a:xfrm>
          <a:prstGeom prst="rect">
            <a:avLst/>
          </a:prstGeom>
        </p:spPr>
        <p:txBody>
          <a:bodyPr lIns="0" tIns="17780" rIns="0" bIns="0" rtlCol="0" anchor="t"/>
          <a:lstStyle/>
          <a:p>
            <a:pPr lvl="0">
              <a:lnSpc>
                <a:spcPct val="107899"/>
              </a:lnSpc>
              <a:defRPr/>
            </a:pPr>
            <a:r>
              <a:rPr lang="en-US" altLang="ko-KR" sz="3600" dirty="0">
                <a:solidFill>
                  <a:schemeClr val="bg1"/>
                </a:solidFill>
              </a:rPr>
              <a:t>AI </a:t>
            </a:r>
            <a:r>
              <a:rPr lang="ko-KR" altLang="en-US" sz="3600" dirty="0">
                <a:solidFill>
                  <a:schemeClr val="bg1"/>
                </a:solidFill>
              </a:rPr>
              <a:t>프롬프트 엔지니어 개발</a:t>
            </a:r>
            <a:endParaRPr kumimoji="0" lang="en-US" sz="3600" b="0" i="0" u="none" strike="noStrike" kern="1200" cap="none" spc="-20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retendard Regular"/>
              <a:ea typeface="Pretendard Regular"/>
              <a:cs typeface="Pretendard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4074263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808144-5B21-1127-A847-962E76479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5C4BCC2-1146-175D-7EA6-4AEAB8C6A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8216900"/>
            <a:ext cx="10350500" cy="4508500"/>
          </a:xfrm>
          <a:prstGeom prst="rect">
            <a:avLst/>
          </a:prstGeom>
        </p:spPr>
      </p:pic>
      <p:pic>
        <p:nvPicPr>
          <p:cNvPr id="3" name="Picture 3">
            <a:extLst>
              <a:ext uri="{FF2B5EF4-FFF2-40B4-BE49-F238E27FC236}">
                <a16:creationId xmlns:a16="http://schemas.microsoft.com/office/drawing/2014/main" id="{161A145E-E831-3C0A-6463-1D873499F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12725400"/>
            <a:ext cx="10350500" cy="317500"/>
          </a:xfrm>
          <a:prstGeom prst="rect">
            <a:avLst/>
          </a:prstGeom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A161563A-8BF9-3732-030E-9C81011DEFF7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16891000" y="609600"/>
            <a:ext cx="10083800" cy="8102600"/>
          </a:xfrm>
          <a:prstGeom prst="rect">
            <a:avLst/>
          </a:prstGeom>
        </p:spPr>
      </p:pic>
      <p:pic>
        <p:nvPicPr>
          <p:cNvPr id="5" name="Picture 5">
            <a:extLst>
              <a:ext uri="{FF2B5EF4-FFF2-40B4-BE49-F238E27FC236}">
                <a16:creationId xmlns:a16="http://schemas.microsoft.com/office/drawing/2014/main" id="{5ECC8B42-EBD1-B3B2-0B69-821FCDF19822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6" name="TextBox 6">
            <a:extLst>
              <a:ext uri="{FF2B5EF4-FFF2-40B4-BE49-F238E27FC236}">
                <a16:creationId xmlns:a16="http://schemas.microsoft.com/office/drawing/2014/main" id="{2BFD5727-7E59-3FFC-465D-674D05493C2C}"/>
              </a:ext>
            </a:extLst>
          </p:cNvPr>
          <p:cNvSpPr txBox="1"/>
          <p:nvPr/>
        </p:nvSpPr>
        <p:spPr>
          <a:xfrm>
            <a:off x="1257300" y="6096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marL="0" marR="0" lvl="0" indent="0" defTabSz="914400" rtl="0" eaLnBrk="1" fontAlgn="auto" latinLnBrk="0" hangingPunct="1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0" b="0" i="0" u="none" strike="noStrike" kern="1200" cap="none" spc="-10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retendard Black"/>
                <a:ea typeface="Pretendard Black"/>
                <a:cs typeface="Pretendard Black"/>
              </a:rPr>
              <a:t>비즈니스 모델 및 수익화 전략</a:t>
            </a:r>
            <a:endParaRPr kumimoji="0" lang="en-US" sz="8000" b="0" i="0" u="none" strike="noStrike" kern="1200" cap="none" spc="-10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retendard Black"/>
              <a:ea typeface="Pretendard Black"/>
              <a:cs typeface="Pretendard Black"/>
            </a:endParaRPr>
          </a:p>
        </p:txBody>
      </p:sp>
      <p:pic>
        <p:nvPicPr>
          <p:cNvPr id="7" name="Picture 7">
            <a:extLst>
              <a:ext uri="{FF2B5EF4-FFF2-40B4-BE49-F238E27FC236}">
                <a16:creationId xmlns:a16="http://schemas.microsoft.com/office/drawing/2014/main" id="{32CEFF99-8682-8266-2059-84007B894A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800" y="8216900"/>
            <a:ext cx="10350500" cy="4508500"/>
          </a:xfrm>
          <a:prstGeom prst="rect">
            <a:avLst/>
          </a:prstGeom>
        </p:spPr>
      </p:pic>
      <p:pic>
        <p:nvPicPr>
          <p:cNvPr id="8" name="Picture 8">
            <a:extLst>
              <a:ext uri="{FF2B5EF4-FFF2-40B4-BE49-F238E27FC236}">
                <a16:creationId xmlns:a16="http://schemas.microsoft.com/office/drawing/2014/main" id="{3B3E5204-8FEE-FFB7-CDE2-3DB19C0CCA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623800" y="12725400"/>
            <a:ext cx="10350500" cy="317500"/>
          </a:xfrm>
          <a:prstGeom prst="rect">
            <a:avLst/>
          </a:prstGeom>
        </p:spPr>
      </p:pic>
      <p:pic>
        <p:nvPicPr>
          <p:cNvPr id="9" name="Picture 9">
            <a:extLst>
              <a:ext uri="{FF2B5EF4-FFF2-40B4-BE49-F238E27FC236}">
                <a16:creationId xmlns:a16="http://schemas.microsoft.com/office/drawing/2014/main" id="{98E79DC3-8784-BD26-721A-FAB86255F7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9677400"/>
            <a:ext cx="9182100" cy="50800"/>
          </a:xfrm>
          <a:prstGeom prst="rect">
            <a:avLst/>
          </a:prstGeom>
        </p:spPr>
      </p:pic>
      <p:sp>
        <p:nvSpPr>
          <p:cNvPr id="10" name="TextBox 10">
            <a:extLst>
              <a:ext uri="{FF2B5EF4-FFF2-40B4-BE49-F238E27FC236}">
                <a16:creationId xmlns:a16="http://schemas.microsoft.com/office/drawing/2014/main" id="{CED0392B-9051-7C3F-5A89-8FAE8FCE7201}"/>
              </a:ext>
            </a:extLst>
          </p:cNvPr>
          <p:cNvSpPr txBox="1"/>
          <p:nvPr/>
        </p:nvSpPr>
        <p:spPr>
          <a:xfrm>
            <a:off x="2159000" y="87122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marL="0" marR="0" lvl="0" indent="0" algn="ctr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수익 예측 시나리오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83C7078-12D8-68F2-E523-369F2CF4C6B5}"/>
              </a:ext>
            </a:extLst>
          </p:cNvPr>
          <p:cNvSpPr txBox="1"/>
          <p:nvPr/>
        </p:nvSpPr>
        <p:spPr>
          <a:xfrm>
            <a:off x="2171700" y="100965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32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(B2C) Pro </a:t>
            </a:r>
            <a:r>
              <a:rPr lang="ko-KR" altLang="en-US" sz="32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사용자 약 </a:t>
            </a:r>
            <a:r>
              <a:rPr lang="en-US" altLang="ko-KR" sz="32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2</a:t>
            </a:r>
            <a:r>
              <a:rPr lang="ko-KR" altLang="en-US" sz="32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천여명 기준 연 수익 </a:t>
            </a:r>
            <a:r>
              <a:rPr lang="en-US" altLang="ko-KR" sz="32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3.2</a:t>
            </a:r>
            <a:r>
              <a:rPr lang="ko-KR" altLang="en-US" sz="32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억</a:t>
            </a:r>
            <a:endParaRPr lang="en-US" altLang="ko-KR" sz="32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marL="0" marR="0" lvl="0" indent="0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(B2B)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도입 팀 약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50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개소 기준 연 수익 약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3</a:t>
            </a:r>
            <a:r>
              <a:rPr lang="ko-KR" altLang="en-US" sz="32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억</a:t>
            </a:r>
            <a:endParaRPr lang="en-US" altLang="ko-KR" sz="32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marL="0" marR="0" lvl="0" indent="0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-&gt;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 총 예상수익 연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6.2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억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2" name="Picture 12">
            <a:extLst>
              <a:ext uri="{FF2B5EF4-FFF2-40B4-BE49-F238E27FC236}">
                <a16:creationId xmlns:a16="http://schemas.microsoft.com/office/drawing/2014/main" id="{FF68E801-2EE7-1AD6-A0E1-85FA068E1C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8000" y="9677400"/>
            <a:ext cx="9182100" cy="50800"/>
          </a:xfrm>
          <a:prstGeom prst="rect">
            <a:avLst/>
          </a:prstGeom>
        </p:spPr>
      </p:pic>
      <p:sp>
        <p:nvSpPr>
          <p:cNvPr id="13" name="TextBox 13">
            <a:extLst>
              <a:ext uri="{FF2B5EF4-FFF2-40B4-BE49-F238E27FC236}">
                <a16:creationId xmlns:a16="http://schemas.microsoft.com/office/drawing/2014/main" id="{08676F6B-F8C1-AD8F-2FDA-85782D4B84B1}"/>
              </a:ext>
            </a:extLst>
          </p:cNvPr>
          <p:cNvSpPr txBox="1"/>
          <p:nvPr/>
        </p:nvSpPr>
        <p:spPr>
          <a:xfrm>
            <a:off x="13131800" y="87122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marL="0" marR="0" lvl="0" indent="0" algn="ctr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차별화 요소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152DB23-E919-025D-22A5-ACD550102C2E}"/>
              </a:ext>
            </a:extLst>
          </p:cNvPr>
          <p:cNvSpPr txBox="1"/>
          <p:nvPr/>
        </p:nvSpPr>
        <p:spPr>
          <a:xfrm>
            <a:off x="13144500" y="99060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정적 템플릿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-&gt;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 동적 오케스트레이션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  <a:p>
            <a:pPr marL="0" marR="0" lvl="0" indent="0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컴파일링 기반 경제성 확보</a:t>
            </a:r>
            <a:endParaRPr lang="en-US" altLang="ko-KR" sz="3200" dirty="0">
              <a:solidFill>
                <a:srgbClr val="000000"/>
              </a:solidFill>
              <a:latin typeface="Pretendard Medium"/>
              <a:ea typeface="Pretendard Medium"/>
              <a:cs typeface="Pretendard Medium"/>
            </a:endParaRPr>
          </a:p>
          <a:p>
            <a:pPr marL="0" marR="0" lvl="0" indent="0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정확도 방어 </a:t>
            </a: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매커니즘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  <a:p>
            <a:pPr marL="0" marR="0" lvl="0" indent="0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2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비침습적 </a:t>
            </a:r>
            <a:r>
              <a:rPr lang="en-US" altLang="ko-KR" sz="3200" dirty="0">
                <a:solidFill>
                  <a:srgbClr val="000000"/>
                </a:solidFill>
                <a:latin typeface="Pretendard Medium"/>
                <a:ea typeface="Pretendard Medium"/>
                <a:cs typeface="Pretendard Medium"/>
              </a:rPr>
              <a:t>UX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  <p:pic>
        <p:nvPicPr>
          <p:cNvPr id="15" name="Picture 15">
            <a:extLst>
              <a:ext uri="{FF2B5EF4-FFF2-40B4-BE49-F238E27FC236}">
                <a16:creationId xmlns:a16="http://schemas.microsoft.com/office/drawing/2014/main" id="{12412C27-2113-3B50-3666-8B5A0D95C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3700" y="2832100"/>
            <a:ext cx="10350500" cy="45085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39F03F3E-45AB-E226-A0D2-1B25C10C69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3700" y="7327900"/>
            <a:ext cx="10350500" cy="3175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96F0D87F-D0F6-62DB-56E4-AAF4D14624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3800" y="2832100"/>
            <a:ext cx="10350500" cy="4508500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08DFB714-D007-ED01-738B-CE42541A0A9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623800" y="7327900"/>
            <a:ext cx="10350500" cy="3175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A40A4934-1C87-4E64-0331-7645333F1F3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5200" y="4343400"/>
            <a:ext cx="9182100" cy="50800"/>
          </a:xfrm>
          <a:prstGeom prst="rect">
            <a:avLst/>
          </a:prstGeom>
        </p:spPr>
      </p:pic>
      <p:sp>
        <p:nvSpPr>
          <p:cNvPr id="20" name="TextBox 20">
            <a:extLst>
              <a:ext uri="{FF2B5EF4-FFF2-40B4-BE49-F238E27FC236}">
                <a16:creationId xmlns:a16="http://schemas.microsoft.com/office/drawing/2014/main" id="{376D2316-58A6-2093-5342-E94ABE7D5036}"/>
              </a:ext>
            </a:extLst>
          </p:cNvPr>
          <p:cNvSpPr txBox="1"/>
          <p:nvPr/>
        </p:nvSpPr>
        <p:spPr>
          <a:xfrm>
            <a:off x="2159000" y="33782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marL="0" marR="0" lvl="0" indent="0" algn="ctr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타깃 </a:t>
            </a:r>
            <a:r>
              <a:rPr kumimoji="0" lang="ko-KR" altLang="en-US" sz="4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고객군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1" name="TextBox 21">
            <a:extLst>
              <a:ext uri="{FF2B5EF4-FFF2-40B4-BE49-F238E27FC236}">
                <a16:creationId xmlns:a16="http://schemas.microsoft.com/office/drawing/2014/main" id="{2DEC3416-FCEE-AB58-36E0-39426E493BD3}"/>
              </a:ext>
            </a:extLst>
          </p:cNvPr>
          <p:cNvSpPr txBox="1"/>
          <p:nvPr/>
        </p:nvSpPr>
        <p:spPr>
          <a:xfrm>
            <a:off x="2171700" y="47625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▸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1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차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: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개인 개발자 및 학생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(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B2C) </a:t>
            </a:r>
          </a:p>
          <a:p>
            <a:pPr marL="0" marR="0" lvl="0" indent="0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▸ 2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차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: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AI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예산 최적화가 필요한 </a:t>
            </a: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테크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 기업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(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B2B) </a:t>
            </a:r>
          </a:p>
          <a:p>
            <a:pPr marL="0" marR="0" lvl="0" indent="0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▸ 3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차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: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국비 지원 등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AI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교육 기관 </a:t>
            </a:r>
            <a:r>
              <a:rPr kumimoji="0" lang="en-US" altLang="ko-KR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(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B2B/G)</a:t>
            </a:r>
          </a:p>
        </p:txBody>
      </p:sp>
      <p:pic>
        <p:nvPicPr>
          <p:cNvPr id="22" name="Picture 22">
            <a:extLst>
              <a:ext uri="{FF2B5EF4-FFF2-40B4-BE49-F238E27FC236}">
                <a16:creationId xmlns:a16="http://schemas.microsoft.com/office/drawing/2014/main" id="{7438B48A-180D-FB55-D9D8-11E245E5A38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08000" y="4343400"/>
            <a:ext cx="9182100" cy="50800"/>
          </a:xfrm>
          <a:prstGeom prst="rect">
            <a:avLst/>
          </a:prstGeom>
        </p:spPr>
      </p:pic>
      <p:sp>
        <p:nvSpPr>
          <p:cNvPr id="23" name="TextBox 23">
            <a:extLst>
              <a:ext uri="{FF2B5EF4-FFF2-40B4-BE49-F238E27FC236}">
                <a16:creationId xmlns:a16="http://schemas.microsoft.com/office/drawing/2014/main" id="{1AC0FFD8-7B68-9614-4571-74AD754C8410}"/>
              </a:ext>
            </a:extLst>
          </p:cNvPr>
          <p:cNvSpPr txBox="1"/>
          <p:nvPr/>
        </p:nvSpPr>
        <p:spPr>
          <a:xfrm>
            <a:off x="13131800" y="3378200"/>
            <a:ext cx="9347200" cy="711200"/>
          </a:xfrm>
          <a:prstGeom prst="rect">
            <a:avLst/>
          </a:prstGeom>
        </p:spPr>
        <p:txBody>
          <a:bodyPr lIns="0" tIns="0" rIns="0" bIns="25400" rtlCol="0" anchor="b"/>
          <a:lstStyle/>
          <a:p>
            <a:pPr marL="0" marR="0" lvl="0" indent="0" algn="ctr" defTabSz="914400" rtl="0" eaLnBrk="1" fontAlgn="auto" latinLnBrk="0" hangingPunct="1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4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Bold"/>
                <a:ea typeface="Pretendard Bold"/>
                <a:cs typeface="Pretendard Bold"/>
              </a:rPr>
              <a:t>제공 형태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24" name="TextBox 24">
            <a:extLst>
              <a:ext uri="{FF2B5EF4-FFF2-40B4-BE49-F238E27FC236}">
                <a16:creationId xmlns:a16="http://schemas.microsoft.com/office/drawing/2014/main" id="{C19D8524-2FC9-1B26-83E8-B32645AC8BE3}"/>
              </a:ext>
            </a:extLst>
          </p:cNvPr>
          <p:cNvSpPr txBox="1"/>
          <p:nvPr/>
        </p:nvSpPr>
        <p:spPr>
          <a:xfrm>
            <a:off x="13144500" y="4762500"/>
            <a:ext cx="9309100" cy="18669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0" marR="0" lvl="0" indent="0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▸ Open Source CLI: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로컬 기반 핵심 압축 엔진 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  <a:p>
            <a:pPr marL="0" marR="0" lvl="0" indent="0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▸ </a:t>
            </a:r>
            <a:r>
              <a:rPr kumimoji="0" 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Tokit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 Cloud/Pro: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세션 동기화 및 팀 대시보드</a:t>
            </a:r>
            <a:endParaRPr kumimoji="0" lang="en-US" altLang="ko-KR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  <a:p>
            <a:pPr marL="0" marR="0" lvl="0" indent="0" defTabSz="914400" rtl="0" eaLnBrk="1" fontAlgn="auto" latinLnBrk="0" hangingPunct="1">
              <a:lnSpc>
                <a:spcPct val="13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▸ Enterprise SDK: 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사내 보안용 </a:t>
            </a:r>
            <a:r>
              <a:rPr kumimoji="0" lang="ko-KR" altLang="en-US" sz="32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프라이빗</a:t>
            </a:r>
            <a:r>
              <a:rPr kumimoji="0" lang="ko-KR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retendard Medium"/>
                <a:ea typeface="Pretendard Medium"/>
                <a:cs typeface="Pretendard Medium"/>
              </a:rPr>
              <a:t> 배포 및 커스텀 정책 엔진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retendard Medium"/>
              <a:ea typeface="Pretendard Medium"/>
              <a:cs typeface="Pretendard Medium"/>
            </a:endParaRPr>
          </a:p>
        </p:txBody>
      </p:sp>
    </p:spTree>
    <p:extLst>
      <p:ext uri="{BB962C8B-B14F-4D97-AF65-F5344CB8AC3E}">
        <p14:creationId xmlns:p14="http://schemas.microsoft.com/office/powerpoint/2010/main" val="17103622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700" y="3886200"/>
            <a:ext cx="22072600" cy="381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24384000" cy="279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>
            <a:off x="-6032500" y="5499100"/>
            <a:ext cx="9385300" cy="75438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219200" y="4597400"/>
            <a:ext cx="21932900" cy="7467600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marL="914400" lvl="0" indent="-914400">
              <a:lnSpc>
                <a:spcPct val="132800"/>
              </a:lnSpc>
              <a:buAutoNum type="arabicPeriod"/>
            </a:pPr>
            <a:r>
              <a:rPr lang="en-US" altLang="ko-KR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Core Technologies (</a:t>
            </a:r>
            <a:r>
              <a:rPr lang="ko-KR" altLang="en-US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핵심 기술</a:t>
            </a:r>
            <a:r>
              <a:rPr lang="en-US" altLang="ko-KR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)</a:t>
            </a:r>
          </a:p>
          <a:p>
            <a:pPr marL="685800" lvl="0" indent="-685800">
              <a:lnSpc>
                <a:spcPct val="132800"/>
              </a:lnSpc>
              <a:buFontTx/>
              <a:buChar char="-"/>
            </a:pPr>
            <a:r>
              <a:rPr lang="en-US" altLang="ko-KR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Task Graph: </a:t>
            </a:r>
            <a:r>
              <a:rPr lang="ko-KR" altLang="en-US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복잡한 작업의 효율적 분해</a:t>
            </a:r>
            <a:endParaRPr lang="en-US" altLang="ko-KR" sz="4666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  <a:p>
            <a:pPr marL="685800" lvl="0" indent="-685800">
              <a:lnSpc>
                <a:spcPct val="132800"/>
              </a:lnSpc>
              <a:buFontTx/>
              <a:buChar char="-"/>
            </a:pPr>
            <a:r>
              <a:rPr lang="en-US" altLang="ko-KR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Context Management: Shared Context </a:t>
            </a:r>
            <a:r>
              <a:rPr lang="ko-KR" altLang="en-US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분리 및 </a:t>
            </a:r>
            <a:r>
              <a:rPr lang="en-US" altLang="ko-KR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Runtime </a:t>
            </a:r>
            <a:r>
              <a:rPr lang="ko-KR" altLang="en-US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상태 압축</a:t>
            </a:r>
            <a:endParaRPr lang="en-US" altLang="ko-KR" sz="4666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  <a:p>
            <a:pPr marL="685800" lvl="0" indent="-685800">
              <a:lnSpc>
                <a:spcPct val="132800"/>
              </a:lnSpc>
              <a:buFontTx/>
              <a:buChar char="-"/>
            </a:pPr>
            <a:r>
              <a:rPr lang="en-US" altLang="ko-KR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Auto-Compiling: </a:t>
            </a:r>
            <a:r>
              <a:rPr lang="ko-KR" altLang="en-US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사용자 의도 기반의 영어 프롬프트 최적화</a:t>
            </a:r>
            <a:endParaRPr lang="en-US" altLang="ko-KR" sz="4666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  <a:p>
            <a:pPr marL="685800" lvl="0" indent="-685800">
              <a:lnSpc>
                <a:spcPct val="132800"/>
              </a:lnSpc>
              <a:buFontTx/>
              <a:buChar char="-"/>
            </a:pPr>
            <a:endParaRPr lang="en-US" altLang="ko-KR" sz="4666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  <a:p>
            <a:pPr lvl="0">
              <a:lnSpc>
                <a:spcPct val="132800"/>
              </a:lnSpc>
            </a:pPr>
            <a:r>
              <a:rPr lang="en-US" altLang="ko-KR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2. Key Achievements (</a:t>
            </a:r>
            <a:r>
              <a:rPr lang="ko-KR" altLang="en-US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주요 성과</a:t>
            </a:r>
            <a:r>
              <a:rPr lang="en-US" altLang="ko-KR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)</a:t>
            </a:r>
          </a:p>
          <a:p>
            <a:pPr marL="685800" lvl="0" indent="-685800">
              <a:lnSpc>
                <a:spcPct val="132800"/>
              </a:lnSpc>
              <a:buFontTx/>
              <a:buChar char="-"/>
            </a:pPr>
            <a:r>
              <a:rPr lang="en-US" altLang="ko-KR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Cost Efficiency: </a:t>
            </a:r>
            <a:r>
              <a:rPr lang="ko-KR" altLang="en-US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한국어 입력 토큰 비용 </a:t>
            </a:r>
            <a:r>
              <a:rPr lang="en-US" altLang="ko-KR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50% Down</a:t>
            </a:r>
          </a:p>
          <a:p>
            <a:pPr marL="685800" lvl="0" indent="-685800">
              <a:lnSpc>
                <a:spcPct val="132800"/>
              </a:lnSpc>
              <a:buFontTx/>
              <a:buChar char="-"/>
            </a:pPr>
            <a:r>
              <a:rPr lang="en-US" altLang="ko-KR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Performance: </a:t>
            </a:r>
            <a:r>
              <a:rPr lang="ko-KR" altLang="en-US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컨텍스트 정제를 통한 추론 정확도 </a:t>
            </a:r>
            <a:r>
              <a:rPr lang="en-US" altLang="ko-KR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Up</a:t>
            </a:r>
          </a:p>
          <a:p>
            <a:pPr marL="685800" lvl="0" indent="-685800">
              <a:lnSpc>
                <a:spcPct val="132800"/>
              </a:lnSpc>
              <a:buFontTx/>
              <a:buChar char="-"/>
            </a:pPr>
            <a:r>
              <a:rPr lang="en-US" altLang="ko-KR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Productivity: </a:t>
            </a:r>
            <a:r>
              <a:rPr lang="ko-KR" altLang="en-US" sz="4666" b="0" i="0" u="none" strike="noStrike" dirty="0">
                <a:solidFill>
                  <a:srgbClr val="FFFFFF"/>
                </a:solidFill>
                <a:latin typeface="Pretendard Bold"/>
                <a:ea typeface="Pretendard Bold"/>
                <a:cs typeface="Pretendard Bold"/>
              </a:rPr>
              <a:t>비용 부담 없는 개발자 친화적 워크플로우 구축</a:t>
            </a:r>
            <a:endParaRPr lang="en-US" sz="4666" b="0" i="0" u="none" strike="noStrike" dirty="0">
              <a:solidFill>
                <a:srgbClr val="FFFFFF"/>
              </a:solidFill>
              <a:latin typeface="Pretendard Bold"/>
              <a:ea typeface="Pretendard Bold"/>
              <a:cs typeface="Pretendard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57300" y="1651000"/>
            <a:ext cx="21882100" cy="1422400"/>
          </a:xfrm>
          <a:prstGeom prst="rect">
            <a:avLst/>
          </a:prstGeom>
        </p:spPr>
        <p:txBody>
          <a:bodyPr lIns="0" tIns="101600" rIns="0" bIns="101600" rtlCol="0" anchor="ctr"/>
          <a:lstStyle/>
          <a:p>
            <a:pPr lvl="0" algn="ctr">
              <a:lnSpc>
                <a:spcPct val="99600"/>
              </a:lnSpc>
            </a:pPr>
            <a:r>
              <a:rPr lang="en-US" sz="8000" b="0" i="0" u="none" strike="noStrike" spc="-100">
                <a:solidFill>
                  <a:srgbClr val="FFFFFF"/>
                </a:solidFill>
                <a:latin typeface="Pretendard Black"/>
                <a:ea typeface="Pretendard Black"/>
                <a:cs typeface="Pretendard Black"/>
              </a:rPr>
              <a:t>종합 요약 및 결론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88EA8EF-A6E4-4593-AF76-FC71C23A3AFB}">
  <we:reference id="wa200010001" version="1.0.0.1" store="ko-KR" storeType="OMEX"/>
  <we:alternateReferences>
    <we:reference id="WA200010001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2908</Words>
  <Application>Microsoft Office PowerPoint</Application>
  <PresentationFormat>사용자 지정</PresentationFormat>
  <Paragraphs>422</Paragraphs>
  <Slides>33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42" baseType="lpstr">
      <vt:lpstr>Pretendard Black</vt:lpstr>
      <vt:lpstr>Pretendard Bold</vt:lpstr>
      <vt:lpstr>Pretendard ExtraBold</vt:lpstr>
      <vt:lpstr>Pretendard Light</vt:lpstr>
      <vt:lpstr>Pretendard Medium</vt:lpstr>
      <vt:lpstr>Pretendard Regular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윤 지현</cp:lastModifiedBy>
  <cp:revision>10</cp:revision>
  <dcterms:created xsi:type="dcterms:W3CDTF">2006-08-16T00:00:00Z</dcterms:created>
  <dcterms:modified xsi:type="dcterms:W3CDTF">2026-04-21T06:02:48Z</dcterms:modified>
</cp:coreProperties>
</file>